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2811700" cy="30275213"/>
  <p:notesSz cx="9144000" cy="6858000"/>
  <p:defaultTextStyle>
    <a:defPPr>
      <a:defRPr lang="en-US"/>
    </a:defPPr>
    <a:lvl1pPr marL="0" algn="l" defTabSz="2088170" rtl="0" eaLnBrk="1" latinLnBrk="0" hangingPunct="1">
      <a:defRPr sz="8200" kern="1200">
        <a:solidFill>
          <a:schemeClr val="tx1"/>
        </a:solidFill>
        <a:latin typeface="+mn-lt"/>
        <a:ea typeface="+mn-ea"/>
        <a:cs typeface="+mn-cs"/>
      </a:defRPr>
    </a:lvl1pPr>
    <a:lvl2pPr marL="2088170" algn="l" defTabSz="2088170" rtl="0" eaLnBrk="1" latinLnBrk="0" hangingPunct="1">
      <a:defRPr sz="8200" kern="1200">
        <a:solidFill>
          <a:schemeClr val="tx1"/>
        </a:solidFill>
        <a:latin typeface="+mn-lt"/>
        <a:ea typeface="+mn-ea"/>
        <a:cs typeface="+mn-cs"/>
      </a:defRPr>
    </a:lvl2pPr>
    <a:lvl3pPr marL="4176339" algn="l" defTabSz="2088170" rtl="0" eaLnBrk="1" latinLnBrk="0" hangingPunct="1">
      <a:defRPr sz="8200" kern="1200">
        <a:solidFill>
          <a:schemeClr val="tx1"/>
        </a:solidFill>
        <a:latin typeface="+mn-lt"/>
        <a:ea typeface="+mn-ea"/>
        <a:cs typeface="+mn-cs"/>
      </a:defRPr>
    </a:lvl3pPr>
    <a:lvl4pPr marL="6264509" algn="l" defTabSz="2088170" rtl="0" eaLnBrk="1" latinLnBrk="0" hangingPunct="1">
      <a:defRPr sz="8200" kern="1200">
        <a:solidFill>
          <a:schemeClr val="tx1"/>
        </a:solidFill>
        <a:latin typeface="+mn-lt"/>
        <a:ea typeface="+mn-ea"/>
        <a:cs typeface="+mn-cs"/>
      </a:defRPr>
    </a:lvl4pPr>
    <a:lvl5pPr marL="8352678" algn="l" defTabSz="2088170" rtl="0" eaLnBrk="1" latinLnBrk="0" hangingPunct="1">
      <a:defRPr sz="8200" kern="1200">
        <a:solidFill>
          <a:schemeClr val="tx1"/>
        </a:solidFill>
        <a:latin typeface="+mn-lt"/>
        <a:ea typeface="+mn-ea"/>
        <a:cs typeface="+mn-cs"/>
      </a:defRPr>
    </a:lvl5pPr>
    <a:lvl6pPr marL="10440848" algn="l" defTabSz="2088170" rtl="0" eaLnBrk="1" latinLnBrk="0" hangingPunct="1">
      <a:defRPr sz="8200" kern="1200">
        <a:solidFill>
          <a:schemeClr val="tx1"/>
        </a:solidFill>
        <a:latin typeface="+mn-lt"/>
        <a:ea typeface="+mn-ea"/>
        <a:cs typeface="+mn-cs"/>
      </a:defRPr>
    </a:lvl6pPr>
    <a:lvl7pPr marL="12529017" algn="l" defTabSz="2088170" rtl="0" eaLnBrk="1" latinLnBrk="0" hangingPunct="1">
      <a:defRPr sz="8200" kern="1200">
        <a:solidFill>
          <a:schemeClr val="tx1"/>
        </a:solidFill>
        <a:latin typeface="+mn-lt"/>
        <a:ea typeface="+mn-ea"/>
        <a:cs typeface="+mn-cs"/>
      </a:defRPr>
    </a:lvl7pPr>
    <a:lvl8pPr marL="14617187" algn="l" defTabSz="2088170" rtl="0" eaLnBrk="1" latinLnBrk="0" hangingPunct="1">
      <a:defRPr sz="8200" kern="1200">
        <a:solidFill>
          <a:schemeClr val="tx1"/>
        </a:solidFill>
        <a:latin typeface="+mn-lt"/>
        <a:ea typeface="+mn-ea"/>
        <a:cs typeface="+mn-cs"/>
      </a:defRPr>
    </a:lvl8pPr>
    <a:lvl9pPr marL="16705356" algn="l" defTabSz="2088170" rtl="0" eaLnBrk="1" latinLnBrk="0" hangingPunct="1">
      <a:defRPr sz="82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8F1C48C-C114-7C4C-96DB-7D642E400313}">
          <p14:sldIdLst>
            <p14:sldId id="256"/>
          </p14:sldIdLst>
        </p14:section>
      </p14:sectionLst>
    </p:ext>
    <p:ext uri="{EFAFB233-063F-42B5-8137-9DF3F51BA10A}">
      <p15:sldGuideLst xmlns:p15="http://schemas.microsoft.com/office/powerpoint/2012/main">
        <p15:guide id="1" orient="horz" pos="9536">
          <p15:clr>
            <a:srgbClr val="A4A3A4"/>
          </p15:clr>
        </p15:guide>
        <p15:guide id="2" pos="134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ABAB"/>
    <a:srgbClr val="361C64"/>
    <a:srgbClr val="39273A"/>
    <a:srgbClr val="B2BABC"/>
    <a:srgbClr val="9FD4D7"/>
    <a:srgbClr val="0B1A42"/>
    <a:srgbClr val="1E1E1E"/>
    <a:srgbClr val="282828"/>
    <a:srgbClr val="14131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2788" autoAdjust="0"/>
    <p:restoredTop sz="86448" autoAdjust="0"/>
  </p:normalViewPr>
  <p:slideViewPr>
    <p:cSldViewPr snapToGrid="0" snapToObjects="1">
      <p:cViewPr>
        <p:scale>
          <a:sx n="45" d="100"/>
          <a:sy n="45" d="100"/>
        </p:scale>
        <p:origin x="144" y="-3776"/>
      </p:cViewPr>
      <p:guideLst>
        <p:guide orient="horz" pos="9536"/>
        <p:guide pos="13484"/>
      </p:guideLst>
    </p:cSldViewPr>
  </p:slideViewPr>
  <p:outlineViewPr>
    <p:cViewPr>
      <p:scale>
        <a:sx n="33" d="100"/>
        <a:sy n="33" d="100"/>
      </p:scale>
      <p:origin x="0" y="0"/>
    </p:cViewPr>
  </p:outlineViewPr>
  <p:notesTextViewPr>
    <p:cViewPr>
      <p:scale>
        <a:sx n="100" d="100"/>
        <a:sy n="100" d="100"/>
      </p:scale>
      <p:origin x="0" y="-2296"/>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AF1DB0F-E0DB-FE4B-8424-FFF2A9581588}" type="datetimeFigureOut">
              <a:rPr lang="en-US" smtClean="0"/>
              <a:t>3/21/23</a:t>
            </a:fld>
            <a:endParaRPr lang="en-US"/>
          </a:p>
        </p:txBody>
      </p:sp>
      <p:sp>
        <p:nvSpPr>
          <p:cNvPr id="4" name="Slide Image Placeholder 3"/>
          <p:cNvSpPr>
            <a:spLocks noGrp="1" noRot="1" noChangeAspect="1"/>
          </p:cNvSpPr>
          <p:nvPr>
            <p:ph type="sldImg" idx="2"/>
          </p:nvPr>
        </p:nvSpPr>
        <p:spPr>
          <a:xfrm>
            <a:off x="2935288" y="857250"/>
            <a:ext cx="327342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E43A4A44-6B0F-8F4E-A3F3-DE3C60CC5B43}" type="slidenum">
              <a:rPr lang="en-US" smtClean="0"/>
              <a:t>‹#›</a:t>
            </a:fld>
            <a:endParaRPr lang="en-US"/>
          </a:p>
        </p:txBody>
      </p:sp>
    </p:spTree>
    <p:extLst>
      <p:ext uri="{BB962C8B-B14F-4D97-AF65-F5344CB8AC3E}">
        <p14:creationId xmlns:p14="http://schemas.microsoft.com/office/powerpoint/2010/main" val="194626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40000"/>
              </a:lnSpc>
              <a:defRPr/>
            </a:pPr>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dirty="0">
                <a:solidFill>
                  <a:srgbClr val="000000"/>
                </a:solidFill>
                <a:effectLst/>
                <a:latin typeface="Arial" panose="020B0604020202020204" pitchFamily="34" charset="0"/>
              </a:rPr>
              <a:t>For us to understand the studies purpose and significance, I must first provide some background regarding the nature of Voluntary actions. Voluntary actions or also called ‘self-initiated’ actions’ are characterized usually by a set of features. The action must be internal, spontaneous, and goal-directed behaviour that is initiated out of an individual's own will. </a:t>
            </a:r>
            <a:r>
              <a:rPr lang="en-GB" sz="1200" dirty="0">
                <a:effectLst/>
                <a:latin typeface="Times New Roman" panose="02020603050405020304" pitchFamily="18" charset="0"/>
                <a:ea typeface="Times New Roman" panose="02020603050405020304" pitchFamily="18" charset="0"/>
              </a:rPr>
              <a:t>It is commonly acknowledged by society that only fully conscious acts are conceived as being entitled of credit or blame. Thereby studying whether our actions are controlled by ‘ourselves’ is a vital question we must ask to comprehend many human behaviours and reconsider any ethical and moral debates. Readiness Potential is a widely used biomarker of voluntary action that is described by the progressive accumulation of negativity in the motor cortex preceding an action onset.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One idea of volition is a typical scenario in which a person is presented with many ways to do a thing, the participant should have no preference to pick one alternative over the other, but the person still breaks the symmetry by committing to one of the options. We expect this action to break the symmetry to be a prototype for an internal generated movement. This is also called </a:t>
            </a:r>
            <a:r>
              <a:rPr lang="en-GB" sz="1200" b="1" u="sng" dirty="0" err="1">
                <a:latin typeface="Times New Roman" panose="02020603050405020304" pitchFamily="18" charset="0"/>
                <a:cs typeface="Times New Roman" panose="02020603050405020304" pitchFamily="18" charset="0"/>
              </a:rPr>
              <a:t>Buridan’s</a:t>
            </a:r>
            <a:r>
              <a:rPr lang="en-GB" sz="1200" b="1" u="sng" dirty="0">
                <a:latin typeface="Times New Roman" panose="02020603050405020304" pitchFamily="18" charset="0"/>
                <a:cs typeface="Times New Roman" panose="02020603050405020304" pitchFamily="18" charset="0"/>
              </a:rPr>
              <a:t> choice. </a:t>
            </a:r>
            <a:endParaRPr lang="en-US" sz="1200" b="1" u="sng"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dirty="0">
                <a:solidFill>
                  <a:srgbClr val="000000"/>
                </a:solidFill>
                <a:effectLst/>
                <a:latin typeface="Arial" panose="020B0604020202020204" pitchFamily="34" charset="0"/>
              </a:rPr>
              <a:t>Our main objective of this experiment was to address the key limitations that previous volition studies have encountered.</a:t>
            </a:r>
            <a:r>
              <a:rPr lang="en-GB" sz="1200" b="0" i="0" u="none" strike="noStrike" dirty="0">
                <a:solidFill>
                  <a:srgbClr val="000000"/>
                </a:solidFill>
                <a:effectLst/>
                <a:latin typeface="Times New Roman" panose="02020603050405020304" pitchFamily="18" charset="0"/>
              </a:rPr>
              <a:t> Conventional studies were limited to studying meaningless actions without a purpose, for this reason we looked to employ goal directed </a:t>
            </a:r>
            <a:r>
              <a:rPr lang="en-GB" sz="1200" b="0" i="0" u="none" strike="noStrike" dirty="0" err="1">
                <a:solidFill>
                  <a:srgbClr val="000000"/>
                </a:solidFill>
                <a:effectLst/>
                <a:latin typeface="Times New Roman" panose="02020603050405020304" pitchFamily="18" charset="0"/>
              </a:rPr>
              <a:t>ToL</a:t>
            </a:r>
            <a:r>
              <a:rPr lang="en-GB" sz="1200" b="0" i="0" u="none" strike="noStrike" dirty="0">
                <a:solidFill>
                  <a:srgbClr val="000000"/>
                </a:solidFill>
                <a:effectLst/>
                <a:latin typeface="Times New Roman" panose="02020603050405020304" pitchFamily="18" charset="0"/>
              </a:rPr>
              <a:t> problems instead. In the problem, subjects aim to match the start configuration of the </a:t>
            </a:r>
            <a:r>
              <a:rPr lang="en-GB" sz="1200" b="0" i="0" u="none" strike="noStrike" dirty="0" err="1">
                <a:solidFill>
                  <a:srgbClr val="000000"/>
                </a:solidFill>
                <a:effectLst/>
                <a:latin typeface="Times New Roman" panose="02020603050405020304" pitchFamily="18" charset="0"/>
              </a:rPr>
              <a:t>colored</a:t>
            </a:r>
            <a:r>
              <a:rPr lang="en-GB" sz="1200" b="0" i="0" u="none" strike="noStrike" dirty="0">
                <a:solidFill>
                  <a:srgbClr val="000000"/>
                </a:solidFill>
                <a:effectLst/>
                <a:latin typeface="Times New Roman" panose="02020603050405020304" pitchFamily="18" charset="0"/>
              </a:rPr>
              <a:t> balls to end configuration. During the process, they encountered a TP where they can solve the problem either through path A or B. In the first experiment, we followed each </a:t>
            </a:r>
            <a:r>
              <a:rPr lang="en-GB" sz="1200" b="0" i="0" u="none" strike="noStrike" dirty="0" err="1">
                <a:solidFill>
                  <a:srgbClr val="000000"/>
                </a:solidFill>
                <a:effectLst/>
                <a:latin typeface="Times New Roman" panose="02020603050405020304" pitchFamily="18" charset="0"/>
              </a:rPr>
              <a:t>ToL</a:t>
            </a:r>
            <a:r>
              <a:rPr lang="en-GB" sz="1200" b="0" i="0" u="none" strike="noStrike" dirty="0">
                <a:solidFill>
                  <a:srgbClr val="000000"/>
                </a:solidFill>
                <a:effectLst/>
                <a:latin typeface="Times New Roman" panose="02020603050405020304" pitchFamily="18" charset="0"/>
              </a:rPr>
              <a:t> problem with memory task where participants state whether they had seen each configuration of pegs or not. We gave them 7 configurations for each problem, including 2 alternative unchosen options, 2 new configurations, 2 old configurations and a goal as sanity check. We analysed the results of the memory task applying signal detection theory, and then using Shapiro-Wilk test to test the normality and afterwards using paired 2 sample t test to analyse the significancy of the results. And we discovered that participants were significantly more likely, given by p-value 0.035 to correctly detect  ‘new configurations’ as new, instead of ‘alternative’ as new. This disparity may result from unconscious memory representation of the ‘alternative pathway’ even before decision takes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u="none" strike="noStrike" dirty="0">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The RP amplitude, described as the </a:t>
            </a:r>
            <a:r>
              <a:rPr lang="en-GB" sz="1200" b="0" i="0" u="none" strike="noStrike" dirty="0">
                <a:solidFill>
                  <a:srgbClr val="000000"/>
                </a:solidFill>
                <a:effectLst/>
                <a:latin typeface="Times New Roman" panose="02020603050405020304" pitchFamily="18" charset="0"/>
              </a:rPr>
              <a:t>ramping up of negativity in the neurons preceding the intention to move, has been </a:t>
            </a:r>
            <a:r>
              <a:rPr lang="en-GB" sz="1200" dirty="0">
                <a:latin typeface="Times New Roman" panose="02020603050405020304" pitchFamily="18" charset="0"/>
                <a:cs typeface="Times New Roman" panose="02020603050405020304" pitchFamily="18" charset="0"/>
              </a:rPr>
              <a:t>interpreted as a biomarker for voluntary action. In this experimental paradigm with the presence of a TP, </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a</a:t>
            </a:r>
            <a:r>
              <a:rPr lang="en-GB" sz="1200" b="0" i="0" u="none" strike="noStrike" dirty="0">
                <a:solidFill>
                  <a:srgbClr val="000000"/>
                </a:solidFill>
                <a:effectLst/>
                <a:latin typeface="Times New Roman" panose="02020603050405020304" pitchFamily="18" charset="0"/>
              </a:rPr>
              <a:t>s both alternative choices were equally optimal, that is solved by minimum number of moves, the action </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d</a:t>
            </a:r>
            <a:r>
              <a:rPr lang="en-GB" sz="1200" dirty="0">
                <a:latin typeface="Times New Roman" panose="02020603050405020304" pitchFamily="18" charset="0"/>
                <a:cs typeface="Times New Roman" panose="02020603050405020304" pitchFamily="18" charset="0"/>
              </a:rPr>
              <a:t>riving a choice to be made when there is no reason to pick one alternative over the other, is thought to be a key feature of volition. In the second experiment, </a:t>
            </a:r>
            <a:r>
              <a:rPr lang="en-GB" sz="1200" b="0" i="0" u="none" strike="noStrike" dirty="0">
                <a:solidFill>
                  <a:srgbClr val="000000"/>
                </a:solidFill>
                <a:effectLst/>
                <a:latin typeface="Times New Roman" panose="02020603050405020304" pitchFamily="18" charset="0"/>
                <a:cs typeface="Times New Roman" panose="02020603050405020304" pitchFamily="18" charset="0"/>
              </a:rPr>
              <a:t>w</a:t>
            </a:r>
            <a:r>
              <a:rPr lang="en-GB" sz="1200" b="0" i="0" u="none" strike="noStrike" dirty="0">
                <a:solidFill>
                  <a:srgbClr val="000000"/>
                </a:solidFill>
                <a:effectLst/>
                <a:latin typeface="Times New Roman" panose="02020603050405020304" pitchFamily="18" charset="0"/>
              </a:rPr>
              <a:t>e hypothesize that we would be able to measure a greater RP amplitude preceding TP problems vs </a:t>
            </a:r>
            <a:r>
              <a:rPr lang="en-GB" sz="1200" b="0" i="0" u="none" strike="noStrike" dirty="0" err="1">
                <a:solidFill>
                  <a:srgbClr val="000000"/>
                </a:solidFill>
                <a:effectLst/>
                <a:latin typeface="Times New Roman" panose="02020603050405020304" pitchFamily="18" charset="0"/>
              </a:rPr>
              <a:t>noTP</a:t>
            </a:r>
            <a:r>
              <a:rPr lang="en-GB" sz="1200" b="0" i="0" u="none" strike="noStrike" dirty="0">
                <a:solidFill>
                  <a:srgbClr val="000000"/>
                </a:solidFill>
                <a:effectLst/>
                <a:latin typeface="Times New Roman" panose="02020603050405020304" pitchFamily="18" charset="0"/>
              </a:rPr>
              <a:t> problems as there is greater freedom of choice and therefore more alike self generated moves. We used a 2-sample t-test to compare the magnitude of the RP, and this test showed that the p-value was 0.105, which is greater than the set alpha value, so we fail to reject the null hypothesis and we conclude that the results were not significant. We also recorded the RP amplitude of the actions preceding the first move of a TP problem and any other moves within the problem. Again, the p-value was greater than the value we would conclude the results as significant. Both of these results in the second experiment show that the RP amplitude is not sensitive to the presence of a TP move. Although the results of the second experiment does not match our hypothesis, we have several different interpretations to explain this. Either we can say that the RP is not the suitable biomarker to measure representation of choice, as voluntary action may not be directly linked to decision making. But it could also be the case that the representation of the alternatives moves occur much earlier than the onset of the RP, so we are not able to detect the signal at -1000msec were we expected the RP onset. Finally, </a:t>
            </a:r>
            <a:r>
              <a:rPr lang="en-GB" sz="1000" dirty="0">
                <a:latin typeface="Times New Roman" panose="02020603050405020304" pitchFamily="18" charset="0"/>
                <a:cs typeface="Times New Roman" panose="02020603050405020304" pitchFamily="18" charset="0"/>
              </a:rPr>
              <a:t> another reason why we failed to prove our hypothesis of the EEG experiment could be due to the limited sample size. As commonly acknowledged a larger sample size increases the likelihood of finding significant results, so we may need to further expand the sample size to </a:t>
            </a:r>
            <a:r>
              <a:rPr lang="en-GB" sz="1000" dirty="0" err="1">
                <a:latin typeface="Times New Roman" panose="02020603050405020304" pitchFamily="18" charset="0"/>
                <a:cs typeface="Times New Roman" panose="02020603050405020304" pitchFamily="18" charset="0"/>
              </a:rPr>
              <a:t>analyze</a:t>
            </a:r>
            <a:r>
              <a:rPr lang="en-GB" sz="1000" dirty="0">
                <a:latin typeface="Times New Roman" panose="02020603050405020304" pitchFamily="18" charset="0"/>
                <a:cs typeface="Times New Roman" panose="02020603050405020304" pitchFamily="18" charset="0"/>
              </a:rPr>
              <a:t> the sensitivity of RP amplitude again. </a:t>
            </a:r>
            <a:endParaRPr lang="en-GB" sz="1200" dirty="0">
              <a:latin typeface="Times New Roman" panose="02020603050405020304" pitchFamily="18"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E43A4A44-6B0F-8F4E-A3F3-DE3C60CC5B43}" type="slidenum">
              <a:rPr lang="en-US" smtClean="0"/>
              <a:t>1</a:t>
            </a:fld>
            <a:endParaRPr lang="en-US"/>
          </a:p>
        </p:txBody>
      </p:sp>
    </p:spTree>
    <p:extLst>
      <p:ext uri="{BB962C8B-B14F-4D97-AF65-F5344CB8AC3E}">
        <p14:creationId xmlns:p14="http://schemas.microsoft.com/office/powerpoint/2010/main" val="1171011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10878" y="9404941"/>
            <a:ext cx="36389945" cy="6489548"/>
          </a:xfrm>
        </p:spPr>
        <p:txBody>
          <a:bodyPr/>
          <a:lstStyle/>
          <a:p>
            <a:r>
              <a:rPr lang="en-US"/>
              <a:t>Click to edit Master title style</a:t>
            </a:r>
          </a:p>
        </p:txBody>
      </p:sp>
      <p:sp>
        <p:nvSpPr>
          <p:cNvPr id="3" name="Subtitle 2"/>
          <p:cNvSpPr>
            <a:spLocks noGrp="1"/>
          </p:cNvSpPr>
          <p:nvPr>
            <p:ph type="subTitle" idx="1"/>
          </p:nvPr>
        </p:nvSpPr>
        <p:spPr>
          <a:xfrm>
            <a:off x="6421755" y="17155954"/>
            <a:ext cx="29968190" cy="7736999"/>
          </a:xfrm>
        </p:spPr>
        <p:txBody>
          <a:bodyPr/>
          <a:lstStyle>
            <a:lvl1pPr marL="0" indent="0" algn="ctr">
              <a:buNone/>
              <a:defRPr>
                <a:solidFill>
                  <a:schemeClr val="tx1">
                    <a:tint val="75000"/>
                  </a:schemeClr>
                </a:solidFill>
              </a:defRPr>
            </a:lvl1pPr>
            <a:lvl2pPr marL="2088170" indent="0" algn="ctr">
              <a:buNone/>
              <a:defRPr>
                <a:solidFill>
                  <a:schemeClr val="tx1">
                    <a:tint val="75000"/>
                  </a:schemeClr>
                </a:solidFill>
              </a:defRPr>
            </a:lvl2pPr>
            <a:lvl3pPr marL="4176339" indent="0" algn="ctr">
              <a:buNone/>
              <a:defRPr>
                <a:solidFill>
                  <a:schemeClr val="tx1">
                    <a:tint val="75000"/>
                  </a:schemeClr>
                </a:solidFill>
              </a:defRPr>
            </a:lvl3pPr>
            <a:lvl4pPr marL="6264509" indent="0" algn="ctr">
              <a:buNone/>
              <a:defRPr>
                <a:solidFill>
                  <a:schemeClr val="tx1">
                    <a:tint val="75000"/>
                  </a:schemeClr>
                </a:solidFill>
              </a:defRPr>
            </a:lvl4pPr>
            <a:lvl5pPr marL="8352678" indent="0" algn="ctr">
              <a:buNone/>
              <a:defRPr>
                <a:solidFill>
                  <a:schemeClr val="tx1">
                    <a:tint val="75000"/>
                  </a:schemeClr>
                </a:solidFill>
              </a:defRPr>
            </a:lvl5pPr>
            <a:lvl6pPr marL="10440848" indent="0" algn="ctr">
              <a:buNone/>
              <a:defRPr>
                <a:solidFill>
                  <a:schemeClr val="tx1">
                    <a:tint val="75000"/>
                  </a:schemeClr>
                </a:solidFill>
              </a:defRPr>
            </a:lvl6pPr>
            <a:lvl7pPr marL="12529017" indent="0" algn="ctr">
              <a:buNone/>
              <a:defRPr>
                <a:solidFill>
                  <a:schemeClr val="tx1">
                    <a:tint val="75000"/>
                  </a:schemeClr>
                </a:solidFill>
              </a:defRPr>
            </a:lvl7pPr>
            <a:lvl8pPr marL="14617187" indent="0" algn="ctr">
              <a:buNone/>
              <a:defRPr>
                <a:solidFill>
                  <a:schemeClr val="tx1">
                    <a:tint val="75000"/>
                  </a:schemeClr>
                </a:solidFill>
              </a:defRPr>
            </a:lvl8pPr>
            <a:lvl9pPr marL="1670535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4F01E8B-DD7A-144A-A84C-C65463F61BC9}" type="datetimeFigureOut">
              <a:rPr lang="en-US" smtClean="0"/>
              <a:t>3/21/23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772273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01E8B-DD7A-144A-A84C-C65463F61BC9}" type="datetimeFigureOut">
              <a:rPr lang="en-US" smtClean="0"/>
              <a:t>3/21/23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290423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81829" y="19454630"/>
            <a:ext cx="36389945" cy="6012994"/>
          </a:xfrm>
        </p:spPr>
        <p:txBody>
          <a:bodyPr anchor="t"/>
          <a:lstStyle>
            <a:lvl1pPr algn="l">
              <a:defRPr sz="18300" b="1" cap="all"/>
            </a:lvl1pPr>
          </a:lstStyle>
          <a:p>
            <a:r>
              <a:rPr lang="en-US"/>
              <a:t>Click to edit Master title style</a:t>
            </a:r>
          </a:p>
        </p:txBody>
      </p:sp>
      <p:sp>
        <p:nvSpPr>
          <p:cNvPr id="3" name="Text Placeholder 2"/>
          <p:cNvSpPr>
            <a:spLocks noGrp="1"/>
          </p:cNvSpPr>
          <p:nvPr>
            <p:ph type="body" idx="1"/>
          </p:nvPr>
        </p:nvSpPr>
        <p:spPr>
          <a:xfrm>
            <a:off x="3381829" y="12831929"/>
            <a:ext cx="36389945" cy="6622701"/>
          </a:xfrm>
        </p:spPr>
        <p:txBody>
          <a:bodyPr anchor="b"/>
          <a:lstStyle>
            <a:lvl1pPr marL="0" indent="0">
              <a:buNone/>
              <a:defRPr sz="9100">
                <a:solidFill>
                  <a:schemeClr val="tx1">
                    <a:tint val="75000"/>
                  </a:schemeClr>
                </a:solidFill>
              </a:defRPr>
            </a:lvl1pPr>
            <a:lvl2pPr marL="2088170" indent="0">
              <a:buNone/>
              <a:defRPr sz="8200">
                <a:solidFill>
                  <a:schemeClr val="tx1">
                    <a:tint val="75000"/>
                  </a:schemeClr>
                </a:solidFill>
              </a:defRPr>
            </a:lvl2pPr>
            <a:lvl3pPr marL="4176339" indent="0">
              <a:buNone/>
              <a:defRPr sz="7300">
                <a:solidFill>
                  <a:schemeClr val="tx1">
                    <a:tint val="75000"/>
                  </a:schemeClr>
                </a:solidFill>
              </a:defRPr>
            </a:lvl3pPr>
            <a:lvl4pPr marL="6264509" indent="0">
              <a:buNone/>
              <a:defRPr sz="6400">
                <a:solidFill>
                  <a:schemeClr val="tx1">
                    <a:tint val="75000"/>
                  </a:schemeClr>
                </a:solidFill>
              </a:defRPr>
            </a:lvl4pPr>
            <a:lvl5pPr marL="8352678" indent="0">
              <a:buNone/>
              <a:defRPr sz="6400">
                <a:solidFill>
                  <a:schemeClr val="tx1">
                    <a:tint val="75000"/>
                  </a:schemeClr>
                </a:solidFill>
              </a:defRPr>
            </a:lvl5pPr>
            <a:lvl6pPr marL="10440848" indent="0">
              <a:buNone/>
              <a:defRPr sz="6400">
                <a:solidFill>
                  <a:schemeClr val="tx1">
                    <a:tint val="75000"/>
                  </a:schemeClr>
                </a:solidFill>
              </a:defRPr>
            </a:lvl6pPr>
            <a:lvl7pPr marL="12529017" indent="0">
              <a:buNone/>
              <a:defRPr sz="6400">
                <a:solidFill>
                  <a:schemeClr val="tx1">
                    <a:tint val="75000"/>
                  </a:schemeClr>
                </a:solidFill>
              </a:defRPr>
            </a:lvl7pPr>
            <a:lvl8pPr marL="14617187" indent="0">
              <a:buNone/>
              <a:defRPr sz="6400">
                <a:solidFill>
                  <a:schemeClr val="tx1">
                    <a:tint val="75000"/>
                  </a:schemeClr>
                </a:solidFill>
              </a:defRPr>
            </a:lvl8pPr>
            <a:lvl9pPr marL="16705356"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F01E8B-DD7A-144A-A84C-C65463F61BC9}" type="datetimeFigureOut">
              <a:rPr lang="en-US" smtClean="0"/>
              <a:t>3/21/23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1194616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019127" y="31186275"/>
            <a:ext cx="89845109" cy="88204590"/>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0577765" y="31186275"/>
            <a:ext cx="89845109" cy="88204590"/>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4F01E8B-DD7A-144A-A84C-C65463F61BC9}" type="datetimeFigureOut">
              <a:rPr lang="en-US" smtClean="0"/>
              <a:t>3/21/23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3261549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0585" y="1212412"/>
            <a:ext cx="38530530" cy="5045869"/>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40585" y="6776884"/>
            <a:ext cx="18915936" cy="2824283"/>
          </a:xfrm>
        </p:spPr>
        <p:txBody>
          <a:bodyPr anchor="b"/>
          <a:lstStyle>
            <a:lvl1pPr marL="0" indent="0">
              <a:buNone/>
              <a:defRPr sz="11000" b="1"/>
            </a:lvl1pPr>
            <a:lvl2pPr marL="2088170" indent="0">
              <a:buNone/>
              <a:defRPr sz="9100" b="1"/>
            </a:lvl2pPr>
            <a:lvl3pPr marL="4176339" indent="0">
              <a:buNone/>
              <a:defRPr sz="8200" b="1"/>
            </a:lvl3pPr>
            <a:lvl4pPr marL="6264509" indent="0">
              <a:buNone/>
              <a:defRPr sz="7300" b="1"/>
            </a:lvl4pPr>
            <a:lvl5pPr marL="8352678" indent="0">
              <a:buNone/>
              <a:defRPr sz="7300" b="1"/>
            </a:lvl5pPr>
            <a:lvl6pPr marL="10440848" indent="0">
              <a:buNone/>
              <a:defRPr sz="7300" b="1"/>
            </a:lvl6pPr>
            <a:lvl7pPr marL="12529017" indent="0">
              <a:buNone/>
              <a:defRPr sz="7300" b="1"/>
            </a:lvl7pPr>
            <a:lvl8pPr marL="14617187" indent="0">
              <a:buNone/>
              <a:defRPr sz="7300" b="1"/>
            </a:lvl8pPr>
            <a:lvl9pPr marL="16705356" indent="0">
              <a:buNone/>
              <a:defRPr sz="7300" b="1"/>
            </a:lvl9pPr>
          </a:lstStyle>
          <a:p>
            <a:pPr lvl="0"/>
            <a:r>
              <a:rPr lang="en-US"/>
              <a:t>Click to edit Master text styles</a:t>
            </a:r>
          </a:p>
        </p:txBody>
      </p:sp>
      <p:sp>
        <p:nvSpPr>
          <p:cNvPr id="4" name="Content Placeholder 3"/>
          <p:cNvSpPr>
            <a:spLocks noGrp="1"/>
          </p:cNvSpPr>
          <p:nvPr>
            <p:ph sz="half" idx="2"/>
          </p:nvPr>
        </p:nvSpPr>
        <p:spPr>
          <a:xfrm>
            <a:off x="2140585" y="9601167"/>
            <a:ext cx="18915936" cy="17443290"/>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1747751" y="6776884"/>
            <a:ext cx="18923366" cy="2824283"/>
          </a:xfrm>
        </p:spPr>
        <p:txBody>
          <a:bodyPr anchor="b"/>
          <a:lstStyle>
            <a:lvl1pPr marL="0" indent="0">
              <a:buNone/>
              <a:defRPr sz="11000" b="1"/>
            </a:lvl1pPr>
            <a:lvl2pPr marL="2088170" indent="0">
              <a:buNone/>
              <a:defRPr sz="9100" b="1"/>
            </a:lvl2pPr>
            <a:lvl3pPr marL="4176339" indent="0">
              <a:buNone/>
              <a:defRPr sz="8200" b="1"/>
            </a:lvl3pPr>
            <a:lvl4pPr marL="6264509" indent="0">
              <a:buNone/>
              <a:defRPr sz="7300" b="1"/>
            </a:lvl4pPr>
            <a:lvl5pPr marL="8352678" indent="0">
              <a:buNone/>
              <a:defRPr sz="7300" b="1"/>
            </a:lvl5pPr>
            <a:lvl6pPr marL="10440848" indent="0">
              <a:buNone/>
              <a:defRPr sz="7300" b="1"/>
            </a:lvl6pPr>
            <a:lvl7pPr marL="12529017" indent="0">
              <a:buNone/>
              <a:defRPr sz="7300" b="1"/>
            </a:lvl7pPr>
            <a:lvl8pPr marL="14617187" indent="0">
              <a:buNone/>
              <a:defRPr sz="7300" b="1"/>
            </a:lvl8pPr>
            <a:lvl9pPr marL="16705356" indent="0">
              <a:buNone/>
              <a:defRPr sz="7300" b="1"/>
            </a:lvl9pPr>
          </a:lstStyle>
          <a:p>
            <a:pPr lvl="0"/>
            <a:r>
              <a:rPr lang="en-US"/>
              <a:t>Click to edit Master text styles</a:t>
            </a:r>
          </a:p>
        </p:txBody>
      </p:sp>
      <p:sp>
        <p:nvSpPr>
          <p:cNvPr id="6" name="Content Placeholder 5"/>
          <p:cNvSpPr>
            <a:spLocks noGrp="1"/>
          </p:cNvSpPr>
          <p:nvPr>
            <p:ph sz="quarter" idx="4"/>
          </p:nvPr>
        </p:nvSpPr>
        <p:spPr>
          <a:xfrm>
            <a:off x="21747751" y="9601167"/>
            <a:ext cx="18923366" cy="17443290"/>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F01E8B-DD7A-144A-A84C-C65463F61BC9}" type="datetimeFigureOut">
              <a:rPr lang="en-US" smtClean="0"/>
              <a:t>3/21/23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1368187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4F01E8B-DD7A-144A-A84C-C65463F61BC9}" type="datetimeFigureOut">
              <a:rPr lang="en-US" smtClean="0"/>
              <a:t>3/21/23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4156635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F01E8B-DD7A-144A-A84C-C65463F61BC9}" type="datetimeFigureOut">
              <a:rPr lang="en-US" smtClean="0"/>
              <a:t>3/21/23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2313341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0588" y="1205402"/>
            <a:ext cx="14084754" cy="5129967"/>
          </a:xfrm>
        </p:spPr>
        <p:txBody>
          <a:bodyPr anchor="b"/>
          <a:lstStyle>
            <a:lvl1pPr algn="l">
              <a:defRPr sz="9100" b="1"/>
            </a:lvl1pPr>
          </a:lstStyle>
          <a:p>
            <a:r>
              <a:rPr lang="en-US"/>
              <a:t>Click to edit Master title style</a:t>
            </a:r>
          </a:p>
        </p:txBody>
      </p:sp>
      <p:sp>
        <p:nvSpPr>
          <p:cNvPr id="3" name="Content Placeholder 2"/>
          <p:cNvSpPr>
            <a:spLocks noGrp="1"/>
          </p:cNvSpPr>
          <p:nvPr>
            <p:ph idx="1"/>
          </p:nvPr>
        </p:nvSpPr>
        <p:spPr>
          <a:xfrm>
            <a:off x="16738185" y="1205404"/>
            <a:ext cx="23932930" cy="25839056"/>
          </a:xfrm>
        </p:spPr>
        <p:txBody>
          <a:bodyPr/>
          <a:lstStyle>
            <a:lvl1pPr>
              <a:defRPr sz="14600"/>
            </a:lvl1pPr>
            <a:lvl2pPr>
              <a:defRPr sz="12800"/>
            </a:lvl2pPr>
            <a:lvl3pPr>
              <a:defRPr sz="11000"/>
            </a:lvl3pPr>
            <a:lvl4pPr>
              <a:defRPr sz="9100"/>
            </a:lvl4pPr>
            <a:lvl5pPr>
              <a:defRPr sz="9100"/>
            </a:lvl5pPr>
            <a:lvl6pPr>
              <a:defRPr sz="9100"/>
            </a:lvl6pPr>
            <a:lvl7pPr>
              <a:defRPr sz="9100"/>
            </a:lvl7pPr>
            <a:lvl8pPr>
              <a:defRPr sz="9100"/>
            </a:lvl8pPr>
            <a:lvl9pPr>
              <a:defRPr sz="9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40588" y="6335371"/>
            <a:ext cx="14084754" cy="20709089"/>
          </a:xfrm>
        </p:spPr>
        <p:txBody>
          <a:bodyPr/>
          <a:lstStyle>
            <a:lvl1pPr marL="0" indent="0">
              <a:buNone/>
              <a:defRPr sz="6400"/>
            </a:lvl1pPr>
            <a:lvl2pPr marL="2088170" indent="0">
              <a:buNone/>
              <a:defRPr sz="5500"/>
            </a:lvl2pPr>
            <a:lvl3pPr marL="4176339" indent="0">
              <a:buNone/>
              <a:defRPr sz="4600"/>
            </a:lvl3pPr>
            <a:lvl4pPr marL="6264509" indent="0">
              <a:buNone/>
              <a:defRPr sz="4100"/>
            </a:lvl4pPr>
            <a:lvl5pPr marL="8352678" indent="0">
              <a:buNone/>
              <a:defRPr sz="4100"/>
            </a:lvl5pPr>
            <a:lvl6pPr marL="10440848" indent="0">
              <a:buNone/>
              <a:defRPr sz="4100"/>
            </a:lvl6pPr>
            <a:lvl7pPr marL="12529017" indent="0">
              <a:buNone/>
              <a:defRPr sz="4100"/>
            </a:lvl7pPr>
            <a:lvl8pPr marL="14617187" indent="0">
              <a:buNone/>
              <a:defRPr sz="4100"/>
            </a:lvl8pPr>
            <a:lvl9pPr marL="16705356"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B4F01E8B-DD7A-144A-A84C-C65463F61BC9}" type="datetimeFigureOut">
              <a:rPr lang="en-US" smtClean="0"/>
              <a:t>3/21/23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3542713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1393" y="21192649"/>
            <a:ext cx="25687020" cy="2501912"/>
          </a:xfrm>
        </p:spPr>
        <p:txBody>
          <a:bodyPr anchor="b"/>
          <a:lstStyle>
            <a:lvl1pPr algn="l">
              <a:defRPr sz="9100" b="1"/>
            </a:lvl1pPr>
          </a:lstStyle>
          <a:p>
            <a:r>
              <a:rPr lang="en-US"/>
              <a:t>Click to edit Master title style</a:t>
            </a:r>
          </a:p>
        </p:txBody>
      </p:sp>
      <p:sp>
        <p:nvSpPr>
          <p:cNvPr id="3" name="Picture Placeholder 2"/>
          <p:cNvSpPr>
            <a:spLocks noGrp="1"/>
          </p:cNvSpPr>
          <p:nvPr>
            <p:ph type="pic" idx="1"/>
          </p:nvPr>
        </p:nvSpPr>
        <p:spPr>
          <a:xfrm>
            <a:off x="8391393" y="2705146"/>
            <a:ext cx="25687020" cy="18165128"/>
          </a:xfrm>
        </p:spPr>
        <p:txBody>
          <a:bodyPr/>
          <a:lstStyle>
            <a:lvl1pPr marL="0" indent="0">
              <a:buNone/>
              <a:defRPr sz="14600"/>
            </a:lvl1pPr>
            <a:lvl2pPr marL="2088170" indent="0">
              <a:buNone/>
              <a:defRPr sz="12800"/>
            </a:lvl2pPr>
            <a:lvl3pPr marL="4176339" indent="0">
              <a:buNone/>
              <a:defRPr sz="11000"/>
            </a:lvl3pPr>
            <a:lvl4pPr marL="6264509" indent="0">
              <a:buNone/>
              <a:defRPr sz="9100"/>
            </a:lvl4pPr>
            <a:lvl5pPr marL="8352678" indent="0">
              <a:buNone/>
              <a:defRPr sz="9100"/>
            </a:lvl5pPr>
            <a:lvl6pPr marL="10440848" indent="0">
              <a:buNone/>
              <a:defRPr sz="9100"/>
            </a:lvl6pPr>
            <a:lvl7pPr marL="12529017" indent="0">
              <a:buNone/>
              <a:defRPr sz="9100"/>
            </a:lvl7pPr>
            <a:lvl8pPr marL="14617187" indent="0">
              <a:buNone/>
              <a:defRPr sz="9100"/>
            </a:lvl8pPr>
            <a:lvl9pPr marL="16705356" indent="0">
              <a:buNone/>
              <a:defRPr sz="9100"/>
            </a:lvl9pPr>
          </a:lstStyle>
          <a:p>
            <a:endParaRPr lang="en-US"/>
          </a:p>
        </p:txBody>
      </p:sp>
      <p:sp>
        <p:nvSpPr>
          <p:cNvPr id="4" name="Text Placeholder 3"/>
          <p:cNvSpPr>
            <a:spLocks noGrp="1"/>
          </p:cNvSpPr>
          <p:nvPr>
            <p:ph type="body" sz="half" idx="2"/>
          </p:nvPr>
        </p:nvSpPr>
        <p:spPr>
          <a:xfrm>
            <a:off x="8391393" y="23694561"/>
            <a:ext cx="25687020" cy="3553130"/>
          </a:xfrm>
        </p:spPr>
        <p:txBody>
          <a:bodyPr/>
          <a:lstStyle>
            <a:lvl1pPr marL="0" indent="0">
              <a:buNone/>
              <a:defRPr sz="6400"/>
            </a:lvl1pPr>
            <a:lvl2pPr marL="2088170" indent="0">
              <a:buNone/>
              <a:defRPr sz="5500"/>
            </a:lvl2pPr>
            <a:lvl3pPr marL="4176339" indent="0">
              <a:buNone/>
              <a:defRPr sz="4600"/>
            </a:lvl3pPr>
            <a:lvl4pPr marL="6264509" indent="0">
              <a:buNone/>
              <a:defRPr sz="4100"/>
            </a:lvl4pPr>
            <a:lvl5pPr marL="8352678" indent="0">
              <a:buNone/>
              <a:defRPr sz="4100"/>
            </a:lvl5pPr>
            <a:lvl6pPr marL="10440848" indent="0">
              <a:buNone/>
              <a:defRPr sz="4100"/>
            </a:lvl6pPr>
            <a:lvl7pPr marL="12529017" indent="0">
              <a:buNone/>
              <a:defRPr sz="4100"/>
            </a:lvl7pPr>
            <a:lvl8pPr marL="14617187" indent="0">
              <a:buNone/>
              <a:defRPr sz="4100"/>
            </a:lvl8pPr>
            <a:lvl9pPr marL="16705356"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B4F01E8B-DD7A-144A-A84C-C65463F61BC9}" type="datetimeFigureOut">
              <a:rPr lang="en-US" smtClean="0"/>
              <a:t>3/21/23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3191273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01E8B-DD7A-144A-A84C-C65463F61BC9}" type="datetimeFigureOut">
              <a:rPr lang="en-US" smtClean="0"/>
              <a:t>3/21/23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572351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321937" y="5354227"/>
            <a:ext cx="45100937" cy="11403663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019127" y="5354227"/>
            <a:ext cx="134589282" cy="114036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01E8B-DD7A-144A-A84C-C65463F61BC9}" type="datetimeFigureOut">
              <a:rPr lang="en-US" smtClean="0"/>
              <a:t>3/21/23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FD4CBD-01D1-5A47-9AA0-0A23E9C1849D}" type="slidenum">
              <a:rPr lang="en-US" smtClean="0"/>
              <a:t>‹#›</a:t>
            </a:fld>
            <a:endParaRPr lang="en-US"/>
          </a:p>
        </p:txBody>
      </p:sp>
    </p:spTree>
    <p:extLst>
      <p:ext uri="{BB962C8B-B14F-4D97-AF65-F5344CB8AC3E}">
        <p14:creationId xmlns:p14="http://schemas.microsoft.com/office/powerpoint/2010/main" val="826523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61C64">
            <a:alpha val="5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40585" y="1212412"/>
            <a:ext cx="38530530" cy="5045869"/>
          </a:xfrm>
          <a:prstGeom prst="rect">
            <a:avLst/>
          </a:prstGeom>
        </p:spPr>
        <p:txBody>
          <a:bodyPr vert="horz" lIns="417634" tIns="208817" rIns="417634" bIns="208817" rtlCol="0" anchor="ctr">
            <a:normAutofit/>
          </a:bodyPr>
          <a:lstStyle/>
          <a:p>
            <a:r>
              <a:rPr lang="en-US"/>
              <a:t>Click to edit Master title style</a:t>
            </a:r>
          </a:p>
        </p:txBody>
      </p:sp>
      <p:sp>
        <p:nvSpPr>
          <p:cNvPr id="3" name="Text Placeholder 2"/>
          <p:cNvSpPr>
            <a:spLocks noGrp="1"/>
          </p:cNvSpPr>
          <p:nvPr>
            <p:ph type="body" idx="1"/>
          </p:nvPr>
        </p:nvSpPr>
        <p:spPr>
          <a:xfrm>
            <a:off x="2140585" y="7064219"/>
            <a:ext cx="38530530" cy="19980241"/>
          </a:xfrm>
          <a:prstGeom prst="rect">
            <a:avLst/>
          </a:prstGeom>
        </p:spPr>
        <p:txBody>
          <a:bodyPr vert="horz" lIns="417634" tIns="208817" rIns="417634" bIns="20881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40585" y="28060639"/>
            <a:ext cx="9989397" cy="1611875"/>
          </a:xfrm>
          <a:prstGeom prst="rect">
            <a:avLst/>
          </a:prstGeom>
        </p:spPr>
        <p:txBody>
          <a:bodyPr vert="horz" lIns="417634" tIns="208817" rIns="417634" bIns="208817" rtlCol="0" anchor="ctr"/>
          <a:lstStyle>
            <a:lvl1pPr algn="l">
              <a:defRPr sz="5500">
                <a:solidFill>
                  <a:schemeClr val="tx1">
                    <a:tint val="75000"/>
                  </a:schemeClr>
                </a:solidFill>
              </a:defRPr>
            </a:lvl1pPr>
          </a:lstStyle>
          <a:p>
            <a:fld id="{B4F01E8B-DD7A-144A-A84C-C65463F61BC9}" type="datetimeFigureOut">
              <a:rPr lang="en-US" smtClean="0"/>
              <a:t>3/21/23</a:t>
            </a:fld>
            <a:endParaRPr lang="en-US"/>
          </a:p>
        </p:txBody>
      </p:sp>
      <p:sp>
        <p:nvSpPr>
          <p:cNvPr id="5" name="Footer Placeholder 4"/>
          <p:cNvSpPr>
            <a:spLocks noGrp="1"/>
          </p:cNvSpPr>
          <p:nvPr>
            <p:ph type="ftr" sz="quarter" idx="3"/>
          </p:nvPr>
        </p:nvSpPr>
        <p:spPr>
          <a:xfrm>
            <a:off x="14627331" y="28060639"/>
            <a:ext cx="13557038" cy="1611875"/>
          </a:xfrm>
          <a:prstGeom prst="rect">
            <a:avLst/>
          </a:prstGeom>
        </p:spPr>
        <p:txBody>
          <a:bodyPr vert="horz" lIns="417634" tIns="208817" rIns="417634" bIns="208817" rtlCol="0" anchor="ctr"/>
          <a:lstStyle>
            <a:lvl1pPr algn="ctr">
              <a:defRPr sz="5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681718" y="28060639"/>
            <a:ext cx="9989397" cy="1611875"/>
          </a:xfrm>
          <a:prstGeom prst="rect">
            <a:avLst/>
          </a:prstGeom>
        </p:spPr>
        <p:txBody>
          <a:bodyPr vert="horz" lIns="417634" tIns="208817" rIns="417634" bIns="208817" rtlCol="0" anchor="ctr"/>
          <a:lstStyle>
            <a:lvl1pPr algn="r">
              <a:defRPr sz="5500">
                <a:solidFill>
                  <a:schemeClr val="tx1">
                    <a:tint val="75000"/>
                  </a:schemeClr>
                </a:solidFill>
              </a:defRPr>
            </a:lvl1pPr>
          </a:lstStyle>
          <a:p>
            <a:fld id="{E7FD4CBD-01D1-5A47-9AA0-0A23E9C1849D}" type="slidenum">
              <a:rPr lang="en-US" smtClean="0"/>
              <a:t>‹#›</a:t>
            </a:fld>
            <a:endParaRPr lang="en-US"/>
          </a:p>
        </p:txBody>
      </p:sp>
    </p:spTree>
    <p:extLst>
      <p:ext uri="{BB962C8B-B14F-4D97-AF65-F5344CB8AC3E}">
        <p14:creationId xmlns:p14="http://schemas.microsoft.com/office/powerpoint/2010/main" val="2708544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088170" rtl="0" eaLnBrk="1" latinLnBrk="0" hangingPunct="1">
        <a:spcBef>
          <a:spcPct val="0"/>
        </a:spcBef>
        <a:buNone/>
        <a:defRPr sz="20100" kern="1200">
          <a:solidFill>
            <a:schemeClr val="tx1"/>
          </a:solidFill>
          <a:latin typeface="+mj-lt"/>
          <a:ea typeface="+mj-ea"/>
          <a:cs typeface="+mj-cs"/>
        </a:defRPr>
      </a:lvl1pPr>
    </p:titleStyle>
    <p:bodyStyle>
      <a:lvl1pPr marL="1566127" indent="-1566127" algn="l" defTabSz="2088170" rtl="0" eaLnBrk="1" latinLnBrk="0" hangingPunct="1">
        <a:spcBef>
          <a:spcPct val="20000"/>
        </a:spcBef>
        <a:buFont typeface="Arial"/>
        <a:buChar char="•"/>
        <a:defRPr sz="14600" kern="1200">
          <a:solidFill>
            <a:schemeClr val="tx1"/>
          </a:solidFill>
          <a:latin typeface="+mn-lt"/>
          <a:ea typeface="+mn-ea"/>
          <a:cs typeface="+mn-cs"/>
        </a:defRPr>
      </a:lvl1pPr>
      <a:lvl2pPr marL="3393276" indent="-1305106" algn="l" defTabSz="2088170" rtl="0" eaLnBrk="1" latinLnBrk="0" hangingPunct="1">
        <a:spcBef>
          <a:spcPct val="20000"/>
        </a:spcBef>
        <a:buFont typeface="Arial"/>
        <a:buChar char="–"/>
        <a:defRPr sz="12800" kern="1200">
          <a:solidFill>
            <a:schemeClr val="tx1"/>
          </a:solidFill>
          <a:latin typeface="+mn-lt"/>
          <a:ea typeface="+mn-ea"/>
          <a:cs typeface="+mn-cs"/>
        </a:defRPr>
      </a:lvl2pPr>
      <a:lvl3pPr marL="5220424" indent="-1044085" algn="l" defTabSz="2088170" rtl="0" eaLnBrk="1" latinLnBrk="0" hangingPunct="1">
        <a:spcBef>
          <a:spcPct val="20000"/>
        </a:spcBef>
        <a:buFont typeface="Arial"/>
        <a:buChar char="•"/>
        <a:defRPr sz="11000" kern="1200">
          <a:solidFill>
            <a:schemeClr val="tx1"/>
          </a:solidFill>
          <a:latin typeface="+mn-lt"/>
          <a:ea typeface="+mn-ea"/>
          <a:cs typeface="+mn-cs"/>
        </a:defRPr>
      </a:lvl3pPr>
      <a:lvl4pPr marL="7308593" indent="-1044085" algn="l" defTabSz="2088170" rtl="0" eaLnBrk="1" latinLnBrk="0" hangingPunct="1">
        <a:spcBef>
          <a:spcPct val="20000"/>
        </a:spcBef>
        <a:buFont typeface="Arial"/>
        <a:buChar char="–"/>
        <a:defRPr sz="9100" kern="1200">
          <a:solidFill>
            <a:schemeClr val="tx1"/>
          </a:solidFill>
          <a:latin typeface="+mn-lt"/>
          <a:ea typeface="+mn-ea"/>
          <a:cs typeface="+mn-cs"/>
        </a:defRPr>
      </a:lvl4pPr>
      <a:lvl5pPr marL="9396763" indent="-1044085" algn="l" defTabSz="2088170" rtl="0" eaLnBrk="1" latinLnBrk="0" hangingPunct="1">
        <a:spcBef>
          <a:spcPct val="20000"/>
        </a:spcBef>
        <a:buFont typeface="Arial"/>
        <a:buChar char="»"/>
        <a:defRPr sz="9100" kern="1200">
          <a:solidFill>
            <a:schemeClr val="tx1"/>
          </a:solidFill>
          <a:latin typeface="+mn-lt"/>
          <a:ea typeface="+mn-ea"/>
          <a:cs typeface="+mn-cs"/>
        </a:defRPr>
      </a:lvl5pPr>
      <a:lvl6pPr marL="11484933" indent="-1044085" algn="l" defTabSz="2088170" rtl="0" eaLnBrk="1" latinLnBrk="0" hangingPunct="1">
        <a:spcBef>
          <a:spcPct val="20000"/>
        </a:spcBef>
        <a:buFont typeface="Arial"/>
        <a:buChar char="•"/>
        <a:defRPr sz="9100" kern="1200">
          <a:solidFill>
            <a:schemeClr val="tx1"/>
          </a:solidFill>
          <a:latin typeface="+mn-lt"/>
          <a:ea typeface="+mn-ea"/>
          <a:cs typeface="+mn-cs"/>
        </a:defRPr>
      </a:lvl6pPr>
      <a:lvl7pPr marL="13573102" indent="-1044085" algn="l" defTabSz="2088170" rtl="0" eaLnBrk="1" latinLnBrk="0" hangingPunct="1">
        <a:spcBef>
          <a:spcPct val="20000"/>
        </a:spcBef>
        <a:buFont typeface="Arial"/>
        <a:buChar char="•"/>
        <a:defRPr sz="9100" kern="1200">
          <a:solidFill>
            <a:schemeClr val="tx1"/>
          </a:solidFill>
          <a:latin typeface="+mn-lt"/>
          <a:ea typeface="+mn-ea"/>
          <a:cs typeface="+mn-cs"/>
        </a:defRPr>
      </a:lvl7pPr>
      <a:lvl8pPr marL="15661272" indent="-1044085" algn="l" defTabSz="2088170" rtl="0" eaLnBrk="1" latinLnBrk="0" hangingPunct="1">
        <a:spcBef>
          <a:spcPct val="20000"/>
        </a:spcBef>
        <a:buFont typeface="Arial"/>
        <a:buChar char="•"/>
        <a:defRPr sz="9100" kern="1200">
          <a:solidFill>
            <a:schemeClr val="tx1"/>
          </a:solidFill>
          <a:latin typeface="+mn-lt"/>
          <a:ea typeface="+mn-ea"/>
          <a:cs typeface="+mn-cs"/>
        </a:defRPr>
      </a:lvl8pPr>
      <a:lvl9pPr marL="17749441" indent="-1044085" algn="l" defTabSz="2088170" rtl="0" eaLnBrk="1" latinLnBrk="0" hangingPunct="1">
        <a:spcBef>
          <a:spcPct val="20000"/>
        </a:spcBef>
        <a:buFont typeface="Arial"/>
        <a:buChar char="•"/>
        <a:defRPr sz="9100" kern="1200">
          <a:solidFill>
            <a:schemeClr val="tx1"/>
          </a:solidFill>
          <a:latin typeface="+mn-lt"/>
          <a:ea typeface="+mn-ea"/>
          <a:cs typeface="+mn-cs"/>
        </a:defRPr>
      </a:lvl9pPr>
    </p:bodyStyle>
    <p:otherStyle>
      <a:defPPr>
        <a:defRPr lang="en-US"/>
      </a:defPPr>
      <a:lvl1pPr marL="0" algn="l" defTabSz="2088170" rtl="0" eaLnBrk="1" latinLnBrk="0" hangingPunct="1">
        <a:defRPr sz="8200" kern="1200">
          <a:solidFill>
            <a:schemeClr val="tx1"/>
          </a:solidFill>
          <a:latin typeface="+mn-lt"/>
          <a:ea typeface="+mn-ea"/>
          <a:cs typeface="+mn-cs"/>
        </a:defRPr>
      </a:lvl1pPr>
      <a:lvl2pPr marL="2088170" algn="l" defTabSz="2088170" rtl="0" eaLnBrk="1" latinLnBrk="0" hangingPunct="1">
        <a:defRPr sz="8200" kern="1200">
          <a:solidFill>
            <a:schemeClr val="tx1"/>
          </a:solidFill>
          <a:latin typeface="+mn-lt"/>
          <a:ea typeface="+mn-ea"/>
          <a:cs typeface="+mn-cs"/>
        </a:defRPr>
      </a:lvl2pPr>
      <a:lvl3pPr marL="4176339" algn="l" defTabSz="2088170" rtl="0" eaLnBrk="1" latinLnBrk="0" hangingPunct="1">
        <a:defRPr sz="8200" kern="1200">
          <a:solidFill>
            <a:schemeClr val="tx1"/>
          </a:solidFill>
          <a:latin typeface="+mn-lt"/>
          <a:ea typeface="+mn-ea"/>
          <a:cs typeface="+mn-cs"/>
        </a:defRPr>
      </a:lvl3pPr>
      <a:lvl4pPr marL="6264509" algn="l" defTabSz="2088170" rtl="0" eaLnBrk="1" latinLnBrk="0" hangingPunct="1">
        <a:defRPr sz="8200" kern="1200">
          <a:solidFill>
            <a:schemeClr val="tx1"/>
          </a:solidFill>
          <a:latin typeface="+mn-lt"/>
          <a:ea typeface="+mn-ea"/>
          <a:cs typeface="+mn-cs"/>
        </a:defRPr>
      </a:lvl4pPr>
      <a:lvl5pPr marL="8352678" algn="l" defTabSz="2088170" rtl="0" eaLnBrk="1" latinLnBrk="0" hangingPunct="1">
        <a:defRPr sz="8200" kern="1200">
          <a:solidFill>
            <a:schemeClr val="tx1"/>
          </a:solidFill>
          <a:latin typeface="+mn-lt"/>
          <a:ea typeface="+mn-ea"/>
          <a:cs typeface="+mn-cs"/>
        </a:defRPr>
      </a:lvl5pPr>
      <a:lvl6pPr marL="10440848" algn="l" defTabSz="2088170" rtl="0" eaLnBrk="1" latinLnBrk="0" hangingPunct="1">
        <a:defRPr sz="8200" kern="1200">
          <a:solidFill>
            <a:schemeClr val="tx1"/>
          </a:solidFill>
          <a:latin typeface="+mn-lt"/>
          <a:ea typeface="+mn-ea"/>
          <a:cs typeface="+mn-cs"/>
        </a:defRPr>
      </a:lvl6pPr>
      <a:lvl7pPr marL="12529017" algn="l" defTabSz="2088170" rtl="0" eaLnBrk="1" latinLnBrk="0" hangingPunct="1">
        <a:defRPr sz="8200" kern="1200">
          <a:solidFill>
            <a:schemeClr val="tx1"/>
          </a:solidFill>
          <a:latin typeface="+mn-lt"/>
          <a:ea typeface="+mn-ea"/>
          <a:cs typeface="+mn-cs"/>
        </a:defRPr>
      </a:lvl7pPr>
      <a:lvl8pPr marL="14617187" algn="l" defTabSz="2088170" rtl="0" eaLnBrk="1" latinLnBrk="0" hangingPunct="1">
        <a:defRPr sz="8200" kern="1200">
          <a:solidFill>
            <a:schemeClr val="tx1"/>
          </a:solidFill>
          <a:latin typeface="+mn-lt"/>
          <a:ea typeface="+mn-ea"/>
          <a:cs typeface="+mn-cs"/>
        </a:defRPr>
      </a:lvl8pPr>
      <a:lvl9pPr marL="16705356" algn="l" defTabSz="2088170"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016/j.neuroimage.2017.09.057" TargetMode="External"/><Relationship Id="rId13" Type="http://schemas.openxmlformats.org/officeDocument/2006/relationships/image" Target="../media/image6.png"/><Relationship Id="rId3" Type="http://schemas.openxmlformats.org/officeDocument/2006/relationships/image" Target="../media/image1.emf"/><Relationship Id="rId7" Type="http://schemas.openxmlformats.org/officeDocument/2006/relationships/hyperlink" Target="https://doi.org/10.1080/17588928.2020.1824176" TargetMode="External"/><Relationship Id="rId12" Type="http://schemas.openxmlformats.org/officeDocument/2006/relationships/image" Target="../media/image5.svg"/><Relationship Id="rId17" Type="http://schemas.openxmlformats.org/officeDocument/2006/relationships/image" Target="../media/image10.emf"/><Relationship Id="rId2" Type="http://schemas.openxmlformats.org/officeDocument/2006/relationships/notesSlide" Target="../notesSlides/notesSlide1.xml"/><Relationship Id="rId16"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hyperlink" Target="https://doi.org/10.3389/fpsyg.2020.529821" TargetMode="External"/><Relationship Id="rId11" Type="http://schemas.openxmlformats.org/officeDocument/2006/relationships/image" Target="../media/image4.png"/><Relationship Id="rId5" Type="http://schemas.openxmlformats.org/officeDocument/2006/relationships/hyperlink" Target="https://doi.org/10.1016/j.neuron.2007.05.016" TargetMode="External"/><Relationship Id="rId15" Type="http://schemas.openxmlformats.org/officeDocument/2006/relationships/image" Target="../media/image8.png"/><Relationship Id="rId10" Type="http://schemas.openxmlformats.org/officeDocument/2006/relationships/image" Target="../media/image3.png"/><Relationship Id="rId4" Type="http://schemas.openxmlformats.org/officeDocument/2006/relationships/hyperlink" Target="https://doi.org/10.1146/annurev-psych-010418-103348" TargetMode="External"/><Relationship Id="rId9" Type="http://schemas.openxmlformats.org/officeDocument/2006/relationships/image" Target="../media/image2.emf"/><Relationship Id="rId1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2700" y="23657"/>
            <a:ext cx="42799000" cy="5143500"/>
          </a:xfrm>
          <a:prstGeom prst="rect">
            <a:avLst/>
          </a:prstGeom>
        </p:spPr>
      </p:pic>
      <p:sp>
        <p:nvSpPr>
          <p:cNvPr id="11" name="TextBox 2"/>
          <p:cNvSpPr txBox="1">
            <a:spLocks noChangeArrowheads="1"/>
          </p:cNvSpPr>
          <p:nvPr/>
        </p:nvSpPr>
        <p:spPr bwMode="auto">
          <a:xfrm>
            <a:off x="1279033" y="785063"/>
            <a:ext cx="35723130" cy="1508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600">
                <a:solidFill>
                  <a:schemeClr val="tx1"/>
                </a:solidFill>
                <a:latin typeface="Times" charset="0"/>
                <a:ea typeface="ＭＳ Ｐゴシック" charset="0"/>
                <a:cs typeface="ＭＳ Ｐゴシック" charset="0"/>
              </a:defRPr>
            </a:lvl1pPr>
            <a:lvl2pPr marL="742950" indent="-285750">
              <a:defRPr sz="2600">
                <a:solidFill>
                  <a:schemeClr val="tx1"/>
                </a:solidFill>
                <a:latin typeface="Times" charset="0"/>
                <a:ea typeface="ＭＳ Ｐゴシック" charset="0"/>
              </a:defRPr>
            </a:lvl2pPr>
            <a:lvl3pPr marL="1143000" indent="-228600">
              <a:defRPr sz="2600">
                <a:solidFill>
                  <a:schemeClr val="tx1"/>
                </a:solidFill>
                <a:latin typeface="Times" charset="0"/>
                <a:ea typeface="ＭＳ Ｐゴシック" charset="0"/>
              </a:defRPr>
            </a:lvl3pPr>
            <a:lvl4pPr marL="1600200" indent="-228600">
              <a:defRPr sz="2600">
                <a:solidFill>
                  <a:schemeClr val="tx1"/>
                </a:solidFill>
                <a:latin typeface="Times" charset="0"/>
                <a:ea typeface="ＭＳ Ｐゴシック" charset="0"/>
              </a:defRPr>
            </a:lvl4pPr>
            <a:lvl5pPr marL="2057400" indent="-228600">
              <a:defRPr sz="2600">
                <a:solidFill>
                  <a:schemeClr val="tx1"/>
                </a:solidFill>
                <a:latin typeface="Times" charset="0"/>
                <a:ea typeface="ＭＳ Ｐゴシック" charset="0"/>
              </a:defRPr>
            </a:lvl5pPr>
            <a:lvl6pPr marL="2514600" indent="-228600" eaLnBrk="0" fontAlgn="base" hangingPunct="0">
              <a:spcBef>
                <a:spcPct val="0"/>
              </a:spcBef>
              <a:spcAft>
                <a:spcPct val="0"/>
              </a:spcAft>
              <a:defRPr sz="2600">
                <a:solidFill>
                  <a:schemeClr val="tx1"/>
                </a:solidFill>
                <a:latin typeface="Times" charset="0"/>
                <a:ea typeface="ＭＳ Ｐゴシック" charset="0"/>
              </a:defRPr>
            </a:lvl6pPr>
            <a:lvl7pPr marL="2971800" indent="-228600" eaLnBrk="0" fontAlgn="base" hangingPunct="0">
              <a:spcBef>
                <a:spcPct val="0"/>
              </a:spcBef>
              <a:spcAft>
                <a:spcPct val="0"/>
              </a:spcAft>
              <a:defRPr sz="2600">
                <a:solidFill>
                  <a:schemeClr val="tx1"/>
                </a:solidFill>
                <a:latin typeface="Times" charset="0"/>
                <a:ea typeface="ＭＳ Ｐゴシック" charset="0"/>
              </a:defRPr>
            </a:lvl7pPr>
            <a:lvl8pPr marL="3429000" indent="-228600" eaLnBrk="0" fontAlgn="base" hangingPunct="0">
              <a:spcBef>
                <a:spcPct val="0"/>
              </a:spcBef>
              <a:spcAft>
                <a:spcPct val="0"/>
              </a:spcAft>
              <a:defRPr sz="2600">
                <a:solidFill>
                  <a:schemeClr val="tx1"/>
                </a:solidFill>
                <a:latin typeface="Times" charset="0"/>
                <a:ea typeface="ＭＳ Ｐゴシック" charset="0"/>
              </a:defRPr>
            </a:lvl8pPr>
            <a:lvl9pPr marL="3886200" indent="-228600" eaLnBrk="0" fontAlgn="base" hangingPunct="0">
              <a:spcBef>
                <a:spcPct val="0"/>
              </a:spcBef>
              <a:spcAft>
                <a:spcPct val="0"/>
              </a:spcAft>
              <a:defRPr sz="2600">
                <a:solidFill>
                  <a:schemeClr val="tx1"/>
                </a:solidFill>
                <a:latin typeface="Times" charset="0"/>
                <a:ea typeface="ＭＳ Ｐゴシック" charset="0"/>
              </a:defRPr>
            </a:lvl9pPr>
          </a:lstStyle>
          <a:p>
            <a:pPr rtl="0">
              <a:spcBef>
                <a:spcPts val="0"/>
              </a:spcBef>
              <a:spcAft>
                <a:spcPts val="0"/>
              </a:spcAft>
            </a:pPr>
            <a:r>
              <a:rPr lang="en-GB" sz="1800" b="1" i="0" u="none" strike="noStrike" dirty="0">
                <a:solidFill>
                  <a:srgbClr val="000000"/>
                </a:solidFill>
                <a:effectLst/>
                <a:latin typeface="Arial" panose="020B0604020202020204" pitchFamily="34" charset="0"/>
              </a:rPr>
              <a:t>=</a:t>
            </a:r>
            <a:endParaRPr lang="en-US" sz="7400" b="1" i="0" u="none" strike="noStrike" dirty="0">
              <a:solidFill>
                <a:schemeClr val="bg1"/>
              </a:solidFill>
              <a:effectLst/>
              <a:latin typeface="Arial Bold" charset="0"/>
            </a:endParaRPr>
          </a:p>
          <a:p>
            <a:pPr rtl="0">
              <a:spcBef>
                <a:spcPts val="0"/>
              </a:spcBef>
              <a:spcAft>
                <a:spcPts val="0"/>
              </a:spcAft>
            </a:pPr>
            <a:r>
              <a:rPr lang="en-US" sz="7400" b="1" dirty="0">
                <a:solidFill>
                  <a:schemeClr val="bg1"/>
                </a:solidFill>
                <a:effectLst/>
                <a:latin typeface="Arial Bold" charset="0"/>
              </a:rPr>
              <a:t>Representations</a:t>
            </a:r>
            <a:r>
              <a:rPr lang="en-US" sz="7400" b="1" dirty="0">
                <a:solidFill>
                  <a:schemeClr val="bg1"/>
                </a:solidFill>
                <a:latin typeface="Arial Bold" charset="0"/>
              </a:rPr>
              <a:t>, consciousness and memory in goal directed behavior </a:t>
            </a:r>
            <a:endParaRPr lang="en-GB" sz="6000" b="0" dirty="0">
              <a:effectLst/>
            </a:endParaRPr>
          </a:p>
        </p:txBody>
      </p:sp>
      <p:sp>
        <p:nvSpPr>
          <p:cNvPr id="12" name="Text Box 8"/>
          <p:cNvSpPr txBox="1">
            <a:spLocks noChangeArrowheads="1"/>
          </p:cNvSpPr>
          <p:nvPr/>
        </p:nvSpPr>
        <p:spPr bwMode="auto">
          <a:xfrm>
            <a:off x="1360084" y="3119363"/>
            <a:ext cx="17373600" cy="15080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58" tIns="45681" rIns="91358" bIns="45681">
            <a:spAutoFit/>
          </a:bodyPr>
          <a:lstStyle/>
          <a:p>
            <a:pPr>
              <a:defRPr/>
            </a:pPr>
            <a:r>
              <a:rPr lang="en-GB" sz="4600" b="1" i="1" baseline="30000" dirty="0">
                <a:solidFill>
                  <a:schemeClr val="bg1"/>
                </a:solidFill>
                <a:latin typeface="Times New Roman" panose="02020603050405020304" pitchFamily="18" charset="0"/>
                <a:cs typeface="Times New Roman" panose="02020603050405020304" pitchFamily="18" charset="0"/>
              </a:rPr>
              <a:t>Student number</a:t>
            </a:r>
            <a:r>
              <a:rPr lang="en-GB" sz="4600" i="1" baseline="30000" dirty="0">
                <a:solidFill>
                  <a:schemeClr val="bg1"/>
                </a:solidFill>
                <a:latin typeface="Times New Roman" panose="02020603050405020304" pitchFamily="18" charset="0"/>
                <a:cs typeface="Times New Roman" panose="02020603050405020304" pitchFamily="18" charset="0"/>
              </a:rPr>
              <a:t>: 20014372</a:t>
            </a:r>
            <a:br>
              <a:rPr lang="en-GB" sz="4600" i="1" baseline="30000" dirty="0">
                <a:solidFill>
                  <a:schemeClr val="bg1"/>
                </a:solidFill>
                <a:latin typeface="Times New Roman" panose="02020603050405020304" pitchFamily="18" charset="0"/>
                <a:cs typeface="Times New Roman" panose="02020603050405020304" pitchFamily="18" charset="0"/>
              </a:rPr>
            </a:br>
            <a:r>
              <a:rPr lang="en-GB" sz="4600" b="1" i="1" baseline="30000" dirty="0">
                <a:solidFill>
                  <a:schemeClr val="bg1"/>
                </a:solidFill>
                <a:latin typeface="Times New Roman" panose="02020603050405020304" pitchFamily="18" charset="0"/>
                <a:cs typeface="Times New Roman" panose="02020603050405020304" pitchFamily="18" charset="0"/>
              </a:rPr>
              <a:t>Supervisor name: </a:t>
            </a:r>
            <a:r>
              <a:rPr lang="en-GB" sz="4600" i="1" baseline="30000" dirty="0">
                <a:solidFill>
                  <a:schemeClr val="bg1"/>
                </a:solidFill>
                <a:latin typeface="Times New Roman" panose="02020603050405020304" pitchFamily="18" charset="0"/>
                <a:cs typeface="Times New Roman" panose="02020603050405020304" pitchFamily="18" charset="0"/>
              </a:rPr>
              <a:t>Patrick Haggard</a:t>
            </a:r>
          </a:p>
          <a:p>
            <a:pPr>
              <a:defRPr/>
            </a:pPr>
            <a:r>
              <a:rPr lang="en-GB" sz="4600" i="1" baseline="30000" dirty="0">
                <a:solidFill>
                  <a:schemeClr val="bg1"/>
                </a:solidFill>
                <a:latin typeface="Times New Roman" panose="02020603050405020304" pitchFamily="18" charset="0"/>
                <a:cs typeface="Times New Roman" panose="02020603050405020304" pitchFamily="18" charset="0"/>
              </a:rPr>
              <a:t>Institute of Cognitive Neurosciences </a:t>
            </a:r>
          </a:p>
        </p:txBody>
      </p:sp>
      <p:sp>
        <p:nvSpPr>
          <p:cNvPr id="14" name="Rectangle 12"/>
          <p:cNvSpPr>
            <a:spLocks noChangeArrowheads="1"/>
          </p:cNvSpPr>
          <p:nvPr/>
        </p:nvSpPr>
        <p:spPr bwMode="auto">
          <a:xfrm>
            <a:off x="1182675" y="5512036"/>
            <a:ext cx="9439057" cy="22042794"/>
          </a:xfrm>
          <a:prstGeom prst="rect">
            <a:avLst/>
          </a:prstGeom>
          <a:solidFill>
            <a:schemeClr val="accent4">
              <a:lumMod val="40000"/>
              <a:lumOff val="60000"/>
              <a:alpha val="70000"/>
            </a:schemeClr>
          </a:solidFill>
          <a:ln w="9525">
            <a:solidFill>
              <a:schemeClr val="tx1"/>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58" tIns="45681" rIns="91358" bIns="45681" numCol="1" spcCol="7200000">
            <a:normAutofit/>
          </a:bodyPr>
          <a:lstStyle/>
          <a:p>
            <a:pPr>
              <a:defRPr/>
            </a:pPr>
            <a:endParaRPr lang="en-US" sz="6000" dirty="0">
              <a:latin typeface="Arial Bold"/>
              <a:cs typeface="Arial Bold"/>
            </a:endParaRPr>
          </a:p>
          <a:p>
            <a:pPr>
              <a:defRPr/>
            </a:pPr>
            <a:endParaRPr lang="en-US" sz="3200" dirty="0">
              <a:latin typeface="Arial"/>
              <a:cs typeface="Arial"/>
            </a:endParaRPr>
          </a:p>
          <a:p>
            <a:pPr>
              <a:defRPr/>
            </a:pPr>
            <a:endParaRPr lang="en-US" sz="3200" dirty="0">
              <a:latin typeface="Arial"/>
              <a:cs typeface="Arial"/>
            </a:endParaRPr>
          </a:p>
        </p:txBody>
      </p:sp>
      <p:sp>
        <p:nvSpPr>
          <p:cNvPr id="20" name="Rectangle 2"/>
          <p:cNvSpPr>
            <a:spLocks noChangeArrowheads="1"/>
          </p:cNvSpPr>
          <p:nvPr/>
        </p:nvSpPr>
        <p:spPr bwMode="auto">
          <a:xfrm>
            <a:off x="12700" y="28302221"/>
            <a:ext cx="42799000" cy="1972991"/>
          </a:xfrm>
          <a:prstGeom prst="rect">
            <a:avLst/>
          </a:prstGeom>
          <a:solidFill>
            <a:srgbClr val="39273A"/>
          </a:solidFill>
          <a:ln>
            <a:noFill/>
          </a:ln>
        </p:spPr>
        <p:txBody>
          <a:bodyPr/>
          <a:lstStyle/>
          <a:p>
            <a:endParaRPr lang="en-US" sz="2400" dirty="0">
              <a:solidFill>
                <a:srgbClr val="39273A"/>
              </a:solidFill>
            </a:endParaRPr>
          </a:p>
        </p:txBody>
      </p:sp>
      <p:grpSp>
        <p:nvGrpSpPr>
          <p:cNvPr id="28" name="Group 27"/>
          <p:cNvGrpSpPr>
            <a:grpSpLocks/>
          </p:cNvGrpSpPr>
          <p:nvPr/>
        </p:nvGrpSpPr>
        <p:grpSpPr bwMode="auto">
          <a:xfrm>
            <a:off x="32123571" y="28802162"/>
            <a:ext cx="8554554" cy="1085092"/>
            <a:chOff x="18089934" y="41064034"/>
            <a:chExt cx="10225136" cy="1296144"/>
          </a:xfrm>
        </p:grpSpPr>
        <p:sp>
          <p:nvSpPr>
            <p:cNvPr id="29" name="Oval 28"/>
            <p:cNvSpPr>
              <a:spLocks noChangeArrowheads="1"/>
            </p:cNvSpPr>
            <p:nvPr/>
          </p:nvSpPr>
          <p:spPr bwMode="auto">
            <a:xfrm>
              <a:off x="18089934" y="41064034"/>
              <a:ext cx="1296144" cy="1296144"/>
            </a:xfrm>
            <a:prstGeom prst="ellipse">
              <a:avLst/>
            </a:prstGeom>
            <a:solidFill>
              <a:srgbClr val="EEF2F6"/>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2400"/>
            </a:p>
          </p:txBody>
        </p:sp>
        <p:sp>
          <p:nvSpPr>
            <p:cNvPr id="30" name="Oval 30"/>
            <p:cNvSpPr>
              <a:spLocks noChangeArrowheads="1"/>
            </p:cNvSpPr>
            <p:nvPr/>
          </p:nvSpPr>
          <p:spPr bwMode="auto">
            <a:xfrm>
              <a:off x="20322182" y="41064034"/>
              <a:ext cx="1296144" cy="1296144"/>
            </a:xfrm>
            <a:prstGeom prst="ellipse">
              <a:avLst/>
            </a:prstGeom>
            <a:solidFill>
              <a:srgbClr val="EEF2F6"/>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2400"/>
            </a:p>
          </p:txBody>
        </p:sp>
        <p:sp>
          <p:nvSpPr>
            <p:cNvPr id="31" name="Oval 31"/>
            <p:cNvSpPr>
              <a:spLocks noChangeArrowheads="1"/>
            </p:cNvSpPr>
            <p:nvPr/>
          </p:nvSpPr>
          <p:spPr bwMode="auto">
            <a:xfrm>
              <a:off x="22554430" y="41064034"/>
              <a:ext cx="1296144" cy="1296144"/>
            </a:xfrm>
            <a:prstGeom prst="ellipse">
              <a:avLst/>
            </a:prstGeom>
            <a:solidFill>
              <a:srgbClr val="EEF2F6"/>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2400"/>
            </a:p>
          </p:txBody>
        </p:sp>
        <p:sp>
          <p:nvSpPr>
            <p:cNvPr id="32" name="Oval 32"/>
            <p:cNvSpPr>
              <a:spLocks noChangeArrowheads="1"/>
            </p:cNvSpPr>
            <p:nvPr/>
          </p:nvSpPr>
          <p:spPr bwMode="auto">
            <a:xfrm>
              <a:off x="24786678" y="41064034"/>
              <a:ext cx="1296144" cy="1296144"/>
            </a:xfrm>
            <a:prstGeom prst="ellipse">
              <a:avLst/>
            </a:prstGeom>
            <a:solidFill>
              <a:srgbClr val="EEF2F6"/>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2400"/>
            </a:p>
          </p:txBody>
        </p:sp>
        <p:sp>
          <p:nvSpPr>
            <p:cNvPr id="33" name="Oval 34"/>
            <p:cNvSpPr>
              <a:spLocks noChangeArrowheads="1"/>
            </p:cNvSpPr>
            <p:nvPr/>
          </p:nvSpPr>
          <p:spPr bwMode="auto">
            <a:xfrm>
              <a:off x="27018926" y="41064034"/>
              <a:ext cx="1296144" cy="1296144"/>
            </a:xfrm>
            <a:prstGeom prst="ellipse">
              <a:avLst/>
            </a:prstGeom>
            <a:solidFill>
              <a:srgbClr val="EEF2F6"/>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2400"/>
            </a:p>
          </p:txBody>
        </p:sp>
      </p:grpSp>
      <p:sp>
        <p:nvSpPr>
          <p:cNvPr id="46" name="Rectangle 12"/>
          <p:cNvSpPr>
            <a:spLocks noChangeArrowheads="1"/>
          </p:cNvSpPr>
          <p:nvPr/>
        </p:nvSpPr>
        <p:spPr bwMode="auto">
          <a:xfrm>
            <a:off x="11080387" y="5512035"/>
            <a:ext cx="9846761" cy="22042795"/>
          </a:xfrm>
          <a:prstGeom prst="rect">
            <a:avLst/>
          </a:prstGeom>
          <a:solidFill>
            <a:schemeClr val="accent4">
              <a:lumMod val="40000"/>
              <a:lumOff val="60000"/>
              <a:alpha val="70107"/>
            </a:schemeClr>
          </a:solidFill>
          <a:ln w="9525">
            <a:solidFill>
              <a:schemeClr val="tx1"/>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58" tIns="45681" rIns="91358" bIns="45681" numCol="1" spcCol="7200000">
            <a:normAutofit lnSpcReduction="10000"/>
          </a:bodyPr>
          <a:lstStyle/>
          <a:p>
            <a:pPr lvl="0" defTabSz="914400" eaLnBrk="0" fontAlgn="base" hangingPunct="0">
              <a:spcBef>
                <a:spcPct val="0"/>
              </a:spcBef>
              <a:spcAft>
                <a:spcPct val="0"/>
              </a:spcAft>
              <a:defRPr/>
            </a:pPr>
            <a:r>
              <a:rPr lang="en-US" sz="5400" b="1" dirty="0">
                <a:latin typeface="Times New Roman" panose="02020603050405020304" pitchFamily="18" charset="0"/>
                <a:cs typeface="Times New Roman" panose="02020603050405020304" pitchFamily="18" charset="0"/>
              </a:rPr>
              <a:t>2. Methods</a:t>
            </a:r>
          </a:p>
          <a:p>
            <a:pPr>
              <a:defRPr/>
            </a:pPr>
            <a:endParaRPr lang="en-US" sz="2400" dirty="0">
              <a:latin typeface="Times New Roman" panose="02020603050405020304" pitchFamily="18" charset="0"/>
              <a:cs typeface="Times New Roman" panose="02020603050405020304" pitchFamily="18" charset="0"/>
            </a:endParaRPr>
          </a:p>
          <a:p>
            <a:pPr>
              <a:defRPr/>
            </a:pPr>
            <a:r>
              <a:rPr lang="en-US" sz="2800" b="1" u="sng" dirty="0">
                <a:latin typeface="Times New Roman" panose="02020603050405020304" pitchFamily="18" charset="0"/>
                <a:cs typeface="Times New Roman" panose="02020603050405020304" pitchFamily="18" charset="0"/>
              </a:rPr>
              <a:t>Experiment 1 </a:t>
            </a:r>
          </a:p>
          <a:p>
            <a:pPr marL="457200" indent="-457200">
              <a:lnSpc>
                <a:spcPct val="150000"/>
              </a:lnSpc>
              <a:buAutoNum type="arabicPeriod"/>
              <a:defRPr/>
            </a:pPr>
            <a:r>
              <a:rPr lang="en-US" sz="2400"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N=25) participants solved </a:t>
            </a:r>
            <a:r>
              <a:rPr lang="en-US" sz="2600" dirty="0" err="1">
                <a:latin typeface="Times New Roman" panose="02020603050405020304" pitchFamily="18" charset="0"/>
                <a:cs typeface="Times New Roman" panose="02020603050405020304" pitchFamily="18" charset="0"/>
              </a:rPr>
              <a:t>ToL</a:t>
            </a:r>
            <a:r>
              <a:rPr lang="en-US" sz="2600" dirty="0">
                <a:latin typeface="Times New Roman" panose="02020603050405020304" pitchFamily="18" charset="0"/>
                <a:cs typeface="Times New Roman" panose="02020603050405020304" pitchFamily="18" charset="0"/>
              </a:rPr>
              <a:t> problems on a computer, moving the pegs from start to goal configuration. </a:t>
            </a:r>
          </a:p>
          <a:p>
            <a:pPr marL="514350" indent="-514350">
              <a:lnSpc>
                <a:spcPct val="150000"/>
              </a:lnSpc>
              <a:buAutoNum type="arabicPeriod"/>
              <a:defRPr/>
            </a:pPr>
            <a:r>
              <a:rPr lang="en-US" sz="2600" dirty="0">
                <a:latin typeface="Times New Roman" panose="02020603050405020304" pitchFamily="18" charset="0"/>
                <a:cs typeface="Times New Roman" panose="02020603050405020304" pitchFamily="18" charset="0"/>
              </a:rPr>
              <a:t>They were asked to</a:t>
            </a:r>
            <a:r>
              <a:rPr lang="en-US" sz="2600" i="1" dirty="0">
                <a:latin typeface="Times New Roman" panose="02020603050405020304" pitchFamily="18" charset="0"/>
                <a:cs typeface="Times New Roman" panose="02020603050405020304" pitchFamily="18" charset="0"/>
              </a:rPr>
              <a:t> plan </a:t>
            </a:r>
            <a:r>
              <a:rPr lang="en-US" sz="2600" dirty="0">
                <a:latin typeface="Times New Roman" panose="02020603050405020304" pitchFamily="18" charset="0"/>
                <a:cs typeface="Times New Roman" panose="02020603050405020304" pitchFamily="18" charset="0"/>
              </a:rPr>
              <a:t>out their solution for the problem. </a:t>
            </a:r>
          </a:p>
          <a:p>
            <a:pPr marL="514350" indent="-514350">
              <a:lnSpc>
                <a:spcPct val="150000"/>
              </a:lnSpc>
              <a:buAutoNum type="arabicPeriod"/>
              <a:defRPr/>
            </a:pPr>
            <a:r>
              <a:rPr lang="en-US" sz="2600" dirty="0">
                <a:latin typeface="Times New Roman" panose="02020603050405020304" pitchFamily="18" charset="0"/>
                <a:cs typeface="Times New Roman" panose="02020603050405020304" pitchFamily="18" charset="0"/>
              </a:rPr>
              <a:t>The </a:t>
            </a:r>
            <a:r>
              <a:rPr lang="en-US" sz="2600" dirty="0" err="1">
                <a:latin typeface="Times New Roman" panose="02020603050405020304" pitchFamily="18" charset="0"/>
                <a:cs typeface="Times New Roman" panose="02020603050405020304" pitchFamily="18" charset="0"/>
              </a:rPr>
              <a:t>ToL</a:t>
            </a:r>
            <a:r>
              <a:rPr lang="en-US" sz="2600" dirty="0">
                <a:latin typeface="Times New Roman" panose="02020603050405020304" pitchFamily="18" charset="0"/>
                <a:cs typeface="Times New Roman" panose="02020603050405020304" pitchFamily="18" charset="0"/>
              </a:rPr>
              <a:t> problems were selected to include a </a:t>
            </a:r>
            <a:r>
              <a:rPr lang="en-US" sz="2600" b="1" u="sng" dirty="0">
                <a:latin typeface="Times New Roman" panose="02020603050405020304" pitchFamily="18" charset="0"/>
                <a:cs typeface="Times New Roman" panose="02020603050405020304" pitchFamily="18" charset="0"/>
              </a:rPr>
              <a:t>Turning point (TP), </a:t>
            </a:r>
            <a:r>
              <a:rPr lang="en-US" sz="2600" dirty="0">
                <a:latin typeface="Times New Roman" panose="02020603050405020304" pitchFamily="18" charset="0"/>
                <a:cs typeface="Times New Roman" panose="02020603050405020304" pitchFamily="18" charset="0"/>
              </a:rPr>
              <a:t>where the participants commit to one of the alternatives of solving.</a:t>
            </a:r>
          </a:p>
          <a:p>
            <a:pPr marL="514350" indent="-514350">
              <a:lnSpc>
                <a:spcPct val="150000"/>
              </a:lnSpc>
              <a:buAutoNum type="arabicPeriod"/>
              <a:defRPr/>
            </a:pPr>
            <a:r>
              <a:rPr lang="en-US" sz="2600" dirty="0">
                <a:latin typeface="Times New Roman" panose="02020603050405020304" pitchFamily="18" charset="0"/>
                <a:cs typeface="Times New Roman" panose="02020603050405020304" pitchFamily="18" charset="0"/>
              </a:rPr>
              <a:t>In the memory test, participants had to look at 7 different ball configurations and classify them ‘old’ or ‘new’ based on whether they thought they had seen them or not.</a:t>
            </a:r>
          </a:p>
          <a:p>
            <a:pPr>
              <a:lnSpc>
                <a:spcPct val="150000"/>
              </a:lnSpc>
              <a:defRPr/>
            </a:pPr>
            <a:endParaRPr lang="en-US" sz="2400" dirty="0">
              <a:latin typeface="Times New Roman" panose="02020603050405020304" pitchFamily="18" charset="0"/>
              <a:cs typeface="Times New Roman" panose="02020603050405020304" pitchFamily="18" charset="0"/>
            </a:endParaRPr>
          </a:p>
          <a:p>
            <a:pPr>
              <a:lnSpc>
                <a:spcPct val="150000"/>
              </a:lnSpc>
              <a:defRPr/>
            </a:pPr>
            <a:endParaRPr lang="en-US" sz="2400" dirty="0">
              <a:latin typeface="Times New Roman" panose="02020603050405020304" pitchFamily="18" charset="0"/>
              <a:cs typeface="Times New Roman" panose="02020603050405020304" pitchFamily="18" charset="0"/>
            </a:endParaRPr>
          </a:p>
          <a:p>
            <a:pPr>
              <a:lnSpc>
                <a:spcPct val="150000"/>
              </a:lnSpc>
              <a:defRPr/>
            </a:pPr>
            <a:endParaRPr lang="en-US" sz="2400" dirty="0">
              <a:latin typeface="Times New Roman" panose="02020603050405020304" pitchFamily="18" charset="0"/>
              <a:cs typeface="Times New Roman" panose="02020603050405020304" pitchFamily="18" charset="0"/>
            </a:endParaRPr>
          </a:p>
          <a:p>
            <a:pPr>
              <a:lnSpc>
                <a:spcPct val="150000"/>
              </a:lnSpc>
              <a:defRPr/>
            </a:pPr>
            <a:endParaRPr lang="en-US" sz="2400" dirty="0">
              <a:latin typeface="Times New Roman" panose="02020603050405020304" pitchFamily="18" charset="0"/>
              <a:cs typeface="Times New Roman" panose="02020603050405020304" pitchFamily="18" charset="0"/>
            </a:endParaRPr>
          </a:p>
          <a:p>
            <a:pPr>
              <a:lnSpc>
                <a:spcPct val="150000"/>
              </a:lnSpc>
              <a:defRPr/>
            </a:pPr>
            <a:endParaRPr lang="en-US" sz="2400" dirty="0">
              <a:latin typeface="Times New Roman" panose="02020603050405020304" pitchFamily="18" charset="0"/>
              <a:cs typeface="Times New Roman" panose="02020603050405020304" pitchFamily="18" charset="0"/>
            </a:endParaRPr>
          </a:p>
          <a:p>
            <a:pPr>
              <a:lnSpc>
                <a:spcPct val="150000"/>
              </a:lnSpc>
              <a:defRPr/>
            </a:pPr>
            <a:endParaRPr lang="en-US" sz="2400" dirty="0">
              <a:latin typeface="Times New Roman" panose="02020603050405020304" pitchFamily="18" charset="0"/>
              <a:cs typeface="Times New Roman" panose="02020603050405020304" pitchFamily="18" charset="0"/>
            </a:endParaRPr>
          </a:p>
          <a:p>
            <a:pPr>
              <a:lnSpc>
                <a:spcPct val="150000"/>
              </a:lnSpc>
              <a:defRPr/>
            </a:pPr>
            <a:endParaRPr lang="en-US" sz="2400" dirty="0">
              <a:latin typeface="Times New Roman" panose="02020603050405020304" pitchFamily="18" charset="0"/>
              <a:cs typeface="Times New Roman" panose="02020603050405020304" pitchFamily="18" charset="0"/>
            </a:endParaRPr>
          </a:p>
          <a:p>
            <a:pPr>
              <a:lnSpc>
                <a:spcPct val="150000"/>
              </a:lnSpc>
              <a:defRPr/>
            </a:pPr>
            <a:endParaRPr lang="en-US" sz="2400" dirty="0">
              <a:latin typeface="Times New Roman" panose="02020603050405020304" pitchFamily="18" charset="0"/>
              <a:cs typeface="Times New Roman" panose="02020603050405020304" pitchFamily="18" charset="0"/>
            </a:endParaRPr>
          </a:p>
          <a:p>
            <a:pPr>
              <a:lnSpc>
                <a:spcPct val="110000"/>
              </a:lnSpc>
              <a:defRPr/>
            </a:pPr>
            <a:endParaRPr lang="en-US" sz="2800" b="1" u="sng" dirty="0">
              <a:latin typeface="Times New Roman" panose="02020603050405020304" pitchFamily="18" charset="0"/>
              <a:cs typeface="Times New Roman" panose="02020603050405020304" pitchFamily="18" charset="0"/>
            </a:endParaRPr>
          </a:p>
          <a:p>
            <a:pPr algn="ctr">
              <a:lnSpc>
                <a:spcPct val="110000"/>
              </a:lnSpc>
              <a:defRPr/>
            </a:pPr>
            <a:endParaRPr lang="en-US" sz="2400" b="1" dirty="0">
              <a:cs typeface="Times New Roman" panose="02020603050405020304" pitchFamily="18" charset="0"/>
            </a:endParaRPr>
          </a:p>
          <a:p>
            <a:pPr algn="ctr">
              <a:lnSpc>
                <a:spcPct val="110000"/>
              </a:lnSpc>
              <a:defRPr/>
            </a:pPr>
            <a:endParaRPr lang="en-US" sz="2400" b="1" dirty="0">
              <a:cs typeface="Times New Roman" panose="02020603050405020304" pitchFamily="18" charset="0"/>
            </a:endParaRPr>
          </a:p>
          <a:p>
            <a:pPr algn="ctr">
              <a:lnSpc>
                <a:spcPct val="110000"/>
              </a:lnSpc>
              <a:defRPr/>
            </a:pPr>
            <a:endParaRPr lang="en-US" sz="2400" b="1" dirty="0">
              <a:cs typeface="Times New Roman" panose="02020603050405020304" pitchFamily="18" charset="0"/>
            </a:endParaRPr>
          </a:p>
          <a:p>
            <a:pPr algn="ctr">
              <a:lnSpc>
                <a:spcPct val="110000"/>
              </a:lnSpc>
              <a:defRPr/>
            </a:pPr>
            <a:endParaRPr lang="en-US" sz="2400" b="1" dirty="0">
              <a:cs typeface="Times New Roman" panose="02020603050405020304" pitchFamily="18" charset="0"/>
            </a:endParaRPr>
          </a:p>
          <a:p>
            <a:pPr algn="ctr">
              <a:lnSpc>
                <a:spcPct val="110000"/>
              </a:lnSpc>
              <a:defRPr/>
            </a:pPr>
            <a:r>
              <a:rPr lang="en-US" sz="2400" b="1" dirty="0">
                <a:cs typeface="Times New Roman" panose="02020603050405020304" pitchFamily="18" charset="0"/>
              </a:rPr>
              <a:t>2.1 Key press diagram and design of experimental paradigm: </a:t>
            </a:r>
            <a:r>
              <a:rPr lang="en-US" sz="2400" dirty="0">
                <a:cs typeface="Times New Roman" panose="02020603050405020304" pitchFamily="18" charset="0"/>
              </a:rPr>
              <a:t>Participants move from left to right. </a:t>
            </a:r>
            <a:endParaRPr lang="en-US" sz="2800" b="1" u="sng" dirty="0">
              <a:latin typeface="Times New Roman" panose="02020603050405020304" pitchFamily="18" charset="0"/>
              <a:cs typeface="Times New Roman" panose="02020603050405020304" pitchFamily="18" charset="0"/>
            </a:endParaRPr>
          </a:p>
          <a:p>
            <a:pPr>
              <a:lnSpc>
                <a:spcPct val="150000"/>
              </a:lnSpc>
              <a:defRPr/>
            </a:pPr>
            <a:endParaRPr lang="en-US" sz="2800" b="1" u="sng" dirty="0">
              <a:latin typeface="Times New Roman" panose="02020603050405020304" pitchFamily="18" charset="0"/>
              <a:cs typeface="Times New Roman" panose="02020603050405020304" pitchFamily="18" charset="0"/>
            </a:endParaRPr>
          </a:p>
          <a:p>
            <a:pPr>
              <a:lnSpc>
                <a:spcPct val="150000"/>
              </a:lnSpc>
              <a:defRPr/>
            </a:pPr>
            <a:endParaRPr lang="en-US" sz="2800" b="1" u="sng" dirty="0">
              <a:latin typeface="Times New Roman" panose="02020603050405020304" pitchFamily="18" charset="0"/>
              <a:cs typeface="Times New Roman" panose="02020603050405020304" pitchFamily="18" charset="0"/>
            </a:endParaRPr>
          </a:p>
          <a:p>
            <a:pPr>
              <a:defRPr/>
            </a:pPr>
            <a:endParaRPr lang="en-US" sz="2800" b="1" dirty="0">
              <a:cs typeface="Times New Roman" panose="02020603050405020304" pitchFamily="18" charset="0"/>
            </a:endParaRPr>
          </a:p>
          <a:p>
            <a:pPr>
              <a:defRPr/>
            </a:pPr>
            <a:endParaRPr lang="en-US" sz="2400" b="1" dirty="0">
              <a:cs typeface="Times New Roman" panose="02020603050405020304" pitchFamily="18" charset="0"/>
            </a:endParaRPr>
          </a:p>
          <a:p>
            <a:pPr algn="ctr">
              <a:defRPr/>
            </a:pPr>
            <a:endParaRPr lang="en-US" sz="2400" b="1" dirty="0">
              <a:cs typeface="Times New Roman" panose="02020603050405020304" pitchFamily="18" charset="0"/>
            </a:endParaRPr>
          </a:p>
          <a:p>
            <a:pPr algn="ctr">
              <a:defRPr/>
            </a:pPr>
            <a:endParaRPr lang="en-US" sz="2400" b="1" dirty="0">
              <a:cs typeface="Times New Roman" panose="02020603050405020304" pitchFamily="18" charset="0"/>
            </a:endParaRPr>
          </a:p>
          <a:p>
            <a:pPr algn="ctr">
              <a:defRPr/>
            </a:pPr>
            <a:endParaRPr lang="en-US" sz="2400" b="1" dirty="0">
              <a:cs typeface="Times New Roman" panose="02020603050405020304" pitchFamily="18" charset="0"/>
            </a:endParaRPr>
          </a:p>
          <a:p>
            <a:pPr algn="ctr">
              <a:defRPr/>
            </a:pPr>
            <a:endParaRPr lang="en-US" sz="2400" b="1" dirty="0">
              <a:cs typeface="Times New Roman" panose="02020603050405020304" pitchFamily="18" charset="0"/>
            </a:endParaRPr>
          </a:p>
          <a:p>
            <a:pPr algn="ctr">
              <a:defRPr/>
            </a:pPr>
            <a:endParaRPr lang="en-US" sz="2400" b="1" dirty="0">
              <a:cs typeface="Times New Roman" panose="02020603050405020304" pitchFamily="18" charset="0"/>
            </a:endParaRPr>
          </a:p>
          <a:p>
            <a:pPr algn="ctr">
              <a:defRPr/>
            </a:pPr>
            <a:endParaRPr lang="en-US" sz="2400" b="1" dirty="0">
              <a:cs typeface="Times New Roman" panose="02020603050405020304" pitchFamily="18" charset="0"/>
            </a:endParaRPr>
          </a:p>
          <a:p>
            <a:pPr algn="ctr">
              <a:defRPr/>
            </a:pPr>
            <a:endParaRPr lang="en-US" sz="2400" b="1" dirty="0">
              <a:cs typeface="Times New Roman" panose="02020603050405020304" pitchFamily="18" charset="0"/>
            </a:endParaRPr>
          </a:p>
          <a:p>
            <a:pPr algn="ctr">
              <a:defRPr/>
            </a:pPr>
            <a:r>
              <a:rPr lang="en-US" sz="2400" b="1" dirty="0">
                <a:cs typeface="Times New Roman" panose="02020603050405020304" pitchFamily="18" charset="0"/>
              </a:rPr>
              <a:t>2.2 Memory task based on </a:t>
            </a:r>
            <a:r>
              <a:rPr lang="en-US" sz="2400" b="1" i="1" u="sng" dirty="0" err="1">
                <a:cs typeface="Times New Roman" panose="02020603050405020304" pitchFamily="18" charset="0"/>
              </a:rPr>
              <a:t>ToL</a:t>
            </a:r>
            <a:r>
              <a:rPr lang="en-US" sz="2400" b="1" i="1" u="sng" dirty="0">
                <a:cs typeface="Times New Roman" panose="02020603050405020304" pitchFamily="18" charset="0"/>
              </a:rPr>
              <a:t> problem 1.1</a:t>
            </a:r>
            <a:r>
              <a:rPr lang="en-US" sz="2400" dirty="0">
                <a:cs typeface="Times New Roman" panose="02020603050405020304" pitchFamily="18" charset="0"/>
              </a:rPr>
              <a:t>: 7 configurations given, participants chose ‘Seen’ or ‘Unseen’ for each configuration</a:t>
            </a:r>
            <a:endParaRPr lang="en-US" sz="2800" b="1" u="sng" dirty="0">
              <a:latin typeface="Times New Roman" panose="02020603050405020304" pitchFamily="18" charset="0"/>
              <a:cs typeface="Times New Roman" panose="02020603050405020304" pitchFamily="18" charset="0"/>
            </a:endParaRPr>
          </a:p>
          <a:p>
            <a:pPr>
              <a:lnSpc>
                <a:spcPct val="150000"/>
              </a:lnSpc>
              <a:defRPr/>
            </a:pPr>
            <a:r>
              <a:rPr lang="en-US" sz="2800" b="1" u="sng" dirty="0">
                <a:latin typeface="Times New Roman" panose="02020603050405020304" pitchFamily="18" charset="0"/>
                <a:cs typeface="Times New Roman" panose="02020603050405020304" pitchFamily="18" charset="0"/>
              </a:rPr>
              <a:t>Experiment 2 </a:t>
            </a:r>
          </a:p>
          <a:p>
            <a:pPr marL="514350" indent="-514350">
              <a:lnSpc>
                <a:spcPct val="150000"/>
              </a:lnSpc>
              <a:buAutoNum type="arabicPeriod"/>
              <a:defRPr/>
            </a:pPr>
            <a:r>
              <a:rPr lang="en-US" sz="2600" dirty="0">
                <a:latin typeface="Times New Roman" panose="02020603050405020304" pitchFamily="18" charset="0"/>
                <a:cs typeface="Times New Roman" panose="02020603050405020304" pitchFamily="18" charset="0"/>
              </a:rPr>
              <a:t>(N=20) participants </a:t>
            </a:r>
            <a:r>
              <a:rPr lang="en-US" altLang="zh-CN" sz="2600" dirty="0">
                <a:latin typeface="Times New Roman" panose="02020603050405020304" pitchFamily="18" charset="0"/>
                <a:cs typeface="Times New Roman" panose="02020603050405020304" pitchFamily="18" charset="0"/>
              </a:rPr>
              <a:t>played with </a:t>
            </a:r>
            <a:r>
              <a:rPr lang="en-US" altLang="zh-CN" sz="2600" dirty="0" err="1">
                <a:latin typeface="Times New Roman" panose="02020603050405020304" pitchFamily="18" charset="0"/>
                <a:cs typeface="Times New Roman" panose="02020603050405020304" pitchFamily="18" charset="0"/>
              </a:rPr>
              <a:t>ToL</a:t>
            </a:r>
            <a:r>
              <a:rPr lang="en-US" altLang="zh-CN" sz="2600" dirty="0">
                <a:latin typeface="Times New Roman" panose="02020603050405020304" pitchFamily="18" charset="0"/>
                <a:cs typeface="Times New Roman" panose="02020603050405020304" pitchFamily="18" charset="0"/>
              </a:rPr>
              <a:t> tasks. </a:t>
            </a:r>
          </a:p>
          <a:p>
            <a:pPr marL="514350" indent="-514350">
              <a:lnSpc>
                <a:spcPct val="150000"/>
              </a:lnSpc>
              <a:buAutoNum type="arabicPeriod"/>
              <a:defRPr/>
            </a:pPr>
            <a:r>
              <a:rPr lang="en-US" altLang="zh-CN" sz="2600" dirty="0">
                <a:latin typeface="Times New Roman" panose="02020603050405020304" pitchFamily="18" charset="0"/>
                <a:cs typeface="Times New Roman" panose="02020603050405020304" pitchFamily="18" charset="0"/>
              </a:rPr>
              <a:t>The trials were divided into Stimuli or Control (guided with instructions) and Testing (active-planning to find solution). </a:t>
            </a:r>
          </a:p>
          <a:p>
            <a:pPr marL="514350" indent="-514350">
              <a:lnSpc>
                <a:spcPct val="150000"/>
              </a:lnSpc>
              <a:buAutoNum type="arabicPeriod"/>
              <a:defRPr/>
            </a:pPr>
            <a:r>
              <a:rPr lang="en-US" altLang="zh-CN" sz="2600" dirty="0">
                <a:latin typeface="Times New Roman" panose="02020603050405020304" pitchFamily="18" charset="0"/>
                <a:cs typeface="Times New Roman" panose="02020603050405020304" pitchFamily="18" charset="0"/>
              </a:rPr>
              <a:t>We recorded and compared the Readiness Potential amplitude for those trials with Turning Point and without Turning Point </a:t>
            </a:r>
          </a:p>
          <a:p>
            <a:pPr marL="514350" indent="-514350">
              <a:lnSpc>
                <a:spcPct val="150000"/>
              </a:lnSpc>
              <a:buAutoNum type="arabicPeriod"/>
              <a:defRPr/>
            </a:pPr>
            <a:r>
              <a:rPr lang="en-US" altLang="zh-CN" sz="2600" dirty="0">
                <a:latin typeface="Times New Roman" panose="02020603050405020304" pitchFamily="18" charset="0"/>
                <a:cs typeface="Times New Roman" panose="02020603050405020304" pitchFamily="18" charset="0"/>
              </a:rPr>
              <a:t>Also, we looked the effect of the Turning Point as the first step in the problem. </a:t>
            </a:r>
          </a:p>
        </p:txBody>
      </p:sp>
      <p:sp>
        <p:nvSpPr>
          <p:cNvPr id="47" name="Rectangle 12"/>
          <p:cNvSpPr>
            <a:spLocks noChangeArrowheads="1"/>
          </p:cNvSpPr>
          <p:nvPr/>
        </p:nvSpPr>
        <p:spPr bwMode="auto">
          <a:xfrm>
            <a:off x="31876730" y="22411331"/>
            <a:ext cx="10250869" cy="5160544"/>
          </a:xfrm>
          <a:prstGeom prst="rect">
            <a:avLst/>
          </a:prstGeom>
          <a:solidFill>
            <a:schemeClr val="accent4">
              <a:lumMod val="40000"/>
              <a:lumOff val="60000"/>
              <a:alpha val="71018"/>
            </a:schemeClr>
          </a:solidFill>
          <a:ln w="9525">
            <a:solidFill>
              <a:schemeClr val="accent4">
                <a:alpha val="73000"/>
              </a:schemeClr>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58" tIns="45681" rIns="91358" bIns="45681" numCol="1" spcCol="7200000">
            <a:normAutofit fontScale="77500" lnSpcReduction="20000"/>
          </a:bodyPr>
          <a:lstStyle/>
          <a:p>
            <a:pPr>
              <a:defRPr/>
            </a:pPr>
            <a:r>
              <a:rPr lang="en-US" sz="6500" b="1" dirty="0">
                <a:latin typeface="Times New Roman" panose="02020603050405020304" pitchFamily="18" charset="0"/>
                <a:cs typeface="Times New Roman" panose="02020603050405020304" pitchFamily="18" charset="0"/>
              </a:rPr>
              <a:t>5. References</a:t>
            </a:r>
            <a:br>
              <a:rPr lang="en-US" sz="6000" dirty="0">
                <a:latin typeface="Arial Bold"/>
                <a:cs typeface="Arial Bold"/>
              </a:rPr>
            </a:br>
            <a:endParaRPr lang="en-US" sz="2400" dirty="0">
              <a:latin typeface="Times New Roman" panose="02020603050405020304" pitchFamily="18" charset="0"/>
              <a:cs typeface="Times New Roman" panose="02020603050405020304" pitchFamily="18" charset="0"/>
            </a:endParaRPr>
          </a:p>
          <a:p>
            <a:pPr rtl="0">
              <a:spcBef>
                <a:spcPts val="0"/>
              </a:spcBef>
              <a:spcAft>
                <a:spcPts val="0"/>
              </a:spcAft>
            </a:pPr>
            <a:r>
              <a:rPr lang="en-GB" sz="2400" dirty="0">
                <a:latin typeface="Times New Roman" panose="02020603050405020304" pitchFamily="18" charset="0"/>
                <a:cs typeface="Times New Roman" panose="02020603050405020304" pitchFamily="18" charset="0"/>
              </a:rPr>
              <a:t>Haggard, P. (2019). The Neurocognitive Bases of Human Volition. Annual Review of Psychology, 70(1), 9–28. </a:t>
            </a:r>
            <a:r>
              <a:rPr lang="en-GB" sz="24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https://doi.org/10.1146/annurev-psych-010418-103348</a:t>
            </a:r>
            <a:endParaRPr lang="en-GB" sz="2400" dirty="0">
              <a:latin typeface="Times New Roman" panose="02020603050405020304" pitchFamily="18" charset="0"/>
              <a:cs typeface="Times New Roman" panose="02020603050405020304" pitchFamily="18" charset="0"/>
            </a:endParaRPr>
          </a:p>
          <a:p>
            <a:pPr rtl="0">
              <a:spcBef>
                <a:spcPts val="0"/>
              </a:spcBef>
              <a:spcAft>
                <a:spcPts val="0"/>
              </a:spcAft>
            </a:pP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Sumner, P., </a:t>
            </a:r>
            <a:r>
              <a:rPr lang="en-GB" sz="2400" dirty="0" err="1">
                <a:latin typeface="Times New Roman" panose="02020603050405020304" pitchFamily="18" charset="0"/>
                <a:cs typeface="Times New Roman" panose="02020603050405020304" pitchFamily="18" charset="0"/>
              </a:rPr>
              <a:t>Nachev</a:t>
            </a:r>
            <a:r>
              <a:rPr lang="en-GB" sz="2400" dirty="0">
                <a:latin typeface="Times New Roman" panose="02020603050405020304" pitchFamily="18" charset="0"/>
                <a:cs typeface="Times New Roman" panose="02020603050405020304" pitchFamily="18" charset="0"/>
              </a:rPr>
              <a:t>, P., Morris, P., Peters, A. M., Jackson, S. R., Kennard, C., &amp; Husain, M. (2007). Human Medial Frontal Cortex Mediates Unconscious Inhibition of Voluntary Action. Neuron, 54(5), 697–711. </a:t>
            </a:r>
            <a:r>
              <a:rPr lang="en-GB" sz="24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https://doi.org/10.1016/j.neuron.2007.05.016</a:t>
            </a:r>
            <a:endParaRPr lang="en-GB" sz="2400" dirty="0">
              <a:latin typeface="Times New Roman" panose="02020603050405020304" pitchFamily="18" charset="0"/>
              <a:cs typeface="Times New Roman" panose="02020603050405020304" pitchFamily="18" charset="0"/>
            </a:endParaRPr>
          </a:p>
          <a:p>
            <a:pPr rtl="0">
              <a:spcBef>
                <a:spcPts val="0"/>
              </a:spcBef>
              <a:spcAft>
                <a:spcPts val="0"/>
              </a:spcAft>
            </a:pP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Zhang, L., Zhang, R., Yao, D., Shi, L., Gao, J., &amp; Hu, Y. (2020). Differences in </a:t>
            </a:r>
            <a:r>
              <a:rPr lang="en-GB" sz="2400" dirty="0" err="1">
                <a:latin typeface="Times New Roman" panose="02020603050405020304" pitchFamily="18" charset="0"/>
                <a:cs typeface="Times New Roman" panose="02020603050405020304" pitchFamily="18" charset="0"/>
              </a:rPr>
              <a:t>Intersubject</a:t>
            </a:r>
            <a:r>
              <a:rPr lang="en-GB" sz="2400" dirty="0">
                <a:latin typeface="Times New Roman" panose="02020603050405020304" pitchFamily="18" charset="0"/>
                <a:cs typeface="Times New Roman" panose="02020603050405020304" pitchFamily="18" charset="0"/>
              </a:rPr>
              <a:t> Early Readiness Potentials Between Voluntary and Instructed Actions. Frontiers in Psychology, 11. </a:t>
            </a:r>
            <a:r>
              <a:rPr lang="en-GB" sz="2400"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https://doi.org/10.3389/fpsyg.2020.529821</a:t>
            </a:r>
            <a:endParaRPr lang="en-GB" sz="2400" dirty="0">
              <a:latin typeface="Times New Roman" panose="02020603050405020304" pitchFamily="18" charset="0"/>
              <a:cs typeface="Times New Roman" panose="02020603050405020304" pitchFamily="18" charset="0"/>
            </a:endParaRPr>
          </a:p>
          <a:p>
            <a:endParaRPr lang="en-GB" sz="1100" dirty="0"/>
          </a:p>
          <a:p>
            <a:br>
              <a:rPr lang="en-GB" sz="1100" dirty="0"/>
            </a:br>
            <a:r>
              <a:rPr lang="de-DE" sz="2400" dirty="0">
                <a:latin typeface="Times New Roman" panose="02020603050405020304" pitchFamily="18" charset="0"/>
                <a:cs typeface="Times New Roman" panose="02020603050405020304" pitchFamily="18" charset="0"/>
              </a:rPr>
              <a:t>Travers, E., Friedemann, M., &amp; Haggard, P. (2021). </a:t>
            </a:r>
            <a:r>
              <a:rPr lang="en-GB" sz="2400" dirty="0">
                <a:latin typeface="Times New Roman" panose="02020603050405020304" pitchFamily="18" charset="0"/>
                <a:cs typeface="Times New Roman" panose="02020603050405020304" pitchFamily="18" charset="0"/>
              </a:rPr>
              <a:t>The Readiness Potential reflects planning-based expectation, not uncertainty, in the timing of action. Cognitive Neuroscience, 12(1), 14–27. </a:t>
            </a:r>
            <a:r>
              <a:rPr lang="en-GB" sz="2400" dirty="0">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https://doi.org/10.1080/17588928.2020.1824176</a:t>
            </a:r>
            <a:endParaRPr lang="en-GB" sz="24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a:p>
            <a:r>
              <a:rPr lang="en-GB" sz="2400" dirty="0" err="1">
                <a:latin typeface="Times New Roman" panose="02020603050405020304" pitchFamily="18" charset="0"/>
                <a:cs typeface="Times New Roman" panose="02020603050405020304" pitchFamily="18" charset="0"/>
              </a:rPr>
              <a:t>Khalighinejad</a:t>
            </a:r>
            <a:r>
              <a:rPr lang="en-GB" sz="2400" dirty="0">
                <a:latin typeface="Times New Roman" panose="02020603050405020304" pitchFamily="18" charset="0"/>
                <a:cs typeface="Times New Roman" panose="02020603050405020304" pitchFamily="18" charset="0"/>
              </a:rPr>
              <a:t>, N., </a:t>
            </a:r>
            <a:r>
              <a:rPr lang="en-GB" sz="2400" dirty="0" err="1">
                <a:latin typeface="Times New Roman" panose="02020603050405020304" pitchFamily="18" charset="0"/>
                <a:cs typeface="Times New Roman" panose="02020603050405020304" pitchFamily="18" charset="0"/>
              </a:rPr>
              <a:t>Schurger</a:t>
            </a:r>
            <a:r>
              <a:rPr lang="en-GB" sz="2400" dirty="0">
                <a:latin typeface="Times New Roman" panose="02020603050405020304" pitchFamily="18" charset="0"/>
                <a:cs typeface="Times New Roman" panose="02020603050405020304" pitchFamily="18" charset="0"/>
              </a:rPr>
              <a:t>, A., </a:t>
            </a:r>
            <a:r>
              <a:rPr lang="en-GB" sz="2400" dirty="0" err="1">
                <a:latin typeface="Times New Roman" panose="02020603050405020304" pitchFamily="18" charset="0"/>
                <a:cs typeface="Times New Roman" panose="02020603050405020304" pitchFamily="18" charset="0"/>
              </a:rPr>
              <a:t>Desantis</a:t>
            </a:r>
            <a:r>
              <a:rPr lang="en-GB" sz="2400" dirty="0">
                <a:latin typeface="Times New Roman" panose="02020603050405020304" pitchFamily="18" charset="0"/>
                <a:cs typeface="Times New Roman" panose="02020603050405020304" pitchFamily="18" charset="0"/>
              </a:rPr>
              <a:t>, A., </a:t>
            </a:r>
            <a:r>
              <a:rPr lang="en-GB" sz="2400" dirty="0" err="1">
                <a:latin typeface="Times New Roman" panose="02020603050405020304" pitchFamily="18" charset="0"/>
                <a:cs typeface="Times New Roman" panose="02020603050405020304" pitchFamily="18" charset="0"/>
              </a:rPr>
              <a:t>Zmigrod</a:t>
            </a:r>
            <a:r>
              <a:rPr lang="en-GB" sz="2400" dirty="0">
                <a:latin typeface="Times New Roman" panose="02020603050405020304" pitchFamily="18" charset="0"/>
                <a:cs typeface="Times New Roman" panose="02020603050405020304" pitchFamily="18" charset="0"/>
              </a:rPr>
              <a:t>, L., &amp; Haggard, P. (2018). Precursor processes of human self-initiated action. </a:t>
            </a:r>
            <a:r>
              <a:rPr lang="en-GB" sz="2400" dirty="0" err="1">
                <a:latin typeface="Times New Roman" panose="02020603050405020304" pitchFamily="18" charset="0"/>
                <a:cs typeface="Times New Roman" panose="02020603050405020304" pitchFamily="18" charset="0"/>
              </a:rPr>
              <a:t>NeuroImage</a:t>
            </a:r>
            <a:r>
              <a:rPr lang="en-GB" sz="2400" dirty="0">
                <a:latin typeface="Times New Roman" panose="02020603050405020304" pitchFamily="18" charset="0"/>
                <a:cs typeface="Times New Roman" panose="02020603050405020304" pitchFamily="18" charset="0"/>
              </a:rPr>
              <a:t>, 165, 35–47. </a:t>
            </a:r>
            <a:r>
              <a:rPr lang="en-GB" sz="2400" dirty="0">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https://doi.org/10.1016/j.neuroimage.2017.09.057</a:t>
            </a:r>
            <a:endParaRPr lang="en-GB" sz="24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a:p>
            <a:endParaRPr lang="en-US" sz="6000" dirty="0">
              <a:latin typeface="Arial Bold"/>
              <a:cs typeface="Arial"/>
            </a:endParaRPr>
          </a:p>
        </p:txBody>
      </p:sp>
      <p:pic>
        <p:nvPicPr>
          <p:cNvPr id="53" name="Picture 12"/>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0201330" y="-9913063"/>
            <a:ext cx="30275213" cy="5143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Box 3">
            <a:extLst>
              <a:ext uri="{FF2B5EF4-FFF2-40B4-BE49-F238E27FC236}">
                <a16:creationId xmlns:a16="http://schemas.microsoft.com/office/drawing/2014/main" id="{D7ACF70B-5FD7-9D46-76C5-9167B594EC46}"/>
              </a:ext>
            </a:extLst>
          </p:cNvPr>
          <p:cNvSpPr txBox="1"/>
          <p:nvPr/>
        </p:nvSpPr>
        <p:spPr>
          <a:xfrm flipH="1">
            <a:off x="1381063" y="5704352"/>
            <a:ext cx="6894274" cy="923330"/>
          </a:xfrm>
          <a:prstGeom prst="rect">
            <a:avLst/>
          </a:prstGeom>
          <a:noFill/>
        </p:spPr>
        <p:txBody>
          <a:bodyPr wrap="square" rtlCol="0">
            <a:spAutoFit/>
          </a:bodyPr>
          <a:lstStyle/>
          <a:p>
            <a:r>
              <a:rPr lang="en-US" sz="5400" b="1" dirty="0">
                <a:latin typeface="Times New Roman" panose="02020603050405020304" pitchFamily="18" charset="0"/>
                <a:cs typeface="Times New Roman" panose="02020603050405020304" pitchFamily="18" charset="0"/>
              </a:rPr>
              <a:t>1. Introduction</a:t>
            </a:r>
          </a:p>
        </p:txBody>
      </p:sp>
      <p:sp>
        <p:nvSpPr>
          <p:cNvPr id="5" name="Rectangle 12">
            <a:extLst>
              <a:ext uri="{FF2B5EF4-FFF2-40B4-BE49-F238E27FC236}">
                <a16:creationId xmlns:a16="http://schemas.microsoft.com/office/drawing/2014/main" id="{65C59AC1-F4F4-9D64-C87B-A3230AC14BA6}"/>
              </a:ext>
            </a:extLst>
          </p:cNvPr>
          <p:cNvSpPr>
            <a:spLocks noChangeArrowheads="1"/>
          </p:cNvSpPr>
          <p:nvPr/>
        </p:nvSpPr>
        <p:spPr bwMode="auto">
          <a:xfrm>
            <a:off x="21462097" y="5512036"/>
            <a:ext cx="9841964" cy="11016386"/>
          </a:xfrm>
          <a:prstGeom prst="rect">
            <a:avLst/>
          </a:prstGeom>
          <a:solidFill>
            <a:schemeClr val="accent4">
              <a:lumMod val="40000"/>
              <a:lumOff val="60000"/>
              <a:alpha val="69914"/>
            </a:schemeClr>
          </a:solidFill>
          <a:ln w="9525">
            <a:solidFill>
              <a:schemeClr val="tx1">
                <a:alpha val="91000"/>
              </a:schemeClr>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58" tIns="45681" rIns="91358" bIns="45681" numCol="1" spcCol="7200000">
            <a:normAutofit/>
          </a:bodyPr>
          <a:lstStyle/>
          <a:p>
            <a:pPr defTabSz="914400" eaLnBrk="0" fontAlgn="base" hangingPunct="0">
              <a:spcBef>
                <a:spcPct val="0"/>
              </a:spcBef>
              <a:spcAft>
                <a:spcPct val="0"/>
              </a:spcAft>
              <a:defRPr/>
            </a:pPr>
            <a:r>
              <a:rPr lang="en-US" sz="5400" b="1" dirty="0">
                <a:latin typeface="Times New Roman" panose="02020603050405020304" pitchFamily="18" charset="0"/>
                <a:cs typeface="Times New Roman" panose="02020603050405020304" pitchFamily="18" charset="0"/>
              </a:rPr>
              <a:t>3. Results </a:t>
            </a:r>
          </a:p>
          <a:p>
            <a:pPr defTabSz="914400" eaLnBrk="0" fontAlgn="base" hangingPunct="0">
              <a:spcBef>
                <a:spcPct val="0"/>
              </a:spcBef>
              <a:spcAft>
                <a:spcPct val="0"/>
              </a:spcAft>
              <a:defRPr/>
            </a:pPr>
            <a:endParaRPr lang="en-US" sz="4400" b="1"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r>
              <a:rPr lang="en-US" sz="3200" b="1" u="sng" dirty="0">
                <a:latin typeface="Times New Roman" panose="02020603050405020304" pitchFamily="18" charset="0"/>
                <a:cs typeface="Times New Roman" panose="02020603050405020304" pitchFamily="18" charset="0"/>
              </a:rPr>
              <a:t>Experiment 1</a:t>
            </a: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defRPr/>
            </a:pPr>
            <a:endParaRPr lang="en-US" sz="3200" b="1" u="sng" dirty="0">
              <a:latin typeface="Times New Roman" panose="02020603050405020304" pitchFamily="18" charset="0"/>
              <a:cs typeface="Times New Roman" panose="02020603050405020304" pitchFamily="18" charset="0"/>
            </a:endParaRPr>
          </a:p>
          <a:p>
            <a:pPr>
              <a:lnSpc>
                <a:spcPct val="160000"/>
              </a:lnSpc>
              <a:defRPr/>
            </a:pPr>
            <a:endParaRPr lang="en-GB" sz="2600" b="1" dirty="0">
              <a:cs typeface="Times New Roman" panose="02020603050405020304" pitchFamily="18" charset="0"/>
            </a:endParaRPr>
          </a:p>
          <a:p>
            <a:pPr algn="ctr">
              <a:lnSpc>
                <a:spcPct val="110000"/>
              </a:lnSpc>
              <a:defRPr/>
            </a:pPr>
            <a:r>
              <a:rPr lang="en-GB" sz="2400" b="1" dirty="0">
                <a:cs typeface="Times New Roman" panose="02020603050405020304" pitchFamily="18" charset="0"/>
              </a:rPr>
              <a:t>3.1.1 Larger false alarm rate, and thereby d prime obtained for alternative trials compared to the new configurations</a:t>
            </a:r>
            <a:r>
              <a:rPr lang="en-GB" sz="2400" dirty="0">
                <a:cs typeface="Times New Roman" panose="02020603050405020304" pitchFamily="18" charset="0"/>
              </a:rPr>
              <a:t>. Difference significant (p-values=0.035). Null hypothesis rejected. </a:t>
            </a:r>
            <a:endParaRPr lang="en-US" sz="2400" b="1" u="sng" dirty="0">
              <a:latin typeface="Times New Roman" panose="02020603050405020304" pitchFamily="18" charset="0"/>
              <a:cs typeface="Times New Roman" panose="02020603050405020304" pitchFamily="18" charset="0"/>
            </a:endParaRPr>
          </a:p>
          <a:p>
            <a:pPr>
              <a:lnSpc>
                <a:spcPct val="150000"/>
              </a:lnSpc>
              <a:defRPr/>
            </a:pPr>
            <a:endParaRPr lang="en-US" sz="2400" dirty="0">
              <a:latin typeface="Times New Roman" panose="02020603050405020304" pitchFamily="18" charset="0"/>
              <a:cs typeface="Times New Roman" panose="02020603050405020304" pitchFamily="18" charset="0"/>
            </a:endParaRPr>
          </a:p>
          <a:p>
            <a:pPr>
              <a:defRPr/>
            </a:pPr>
            <a:endParaRPr lang="en-US" sz="1800" dirty="0">
              <a:solidFill>
                <a:srgbClr val="000000"/>
              </a:solidFill>
              <a:latin typeface="Times New Roman" panose="02020603050405020304" pitchFamily="18" charset="0"/>
            </a:endParaRPr>
          </a:p>
        </p:txBody>
      </p:sp>
      <p:sp>
        <p:nvSpPr>
          <p:cNvPr id="9" name="TextBox 8">
            <a:extLst>
              <a:ext uri="{FF2B5EF4-FFF2-40B4-BE49-F238E27FC236}">
                <a16:creationId xmlns:a16="http://schemas.microsoft.com/office/drawing/2014/main" id="{F0D2B870-1CE3-7BBA-7B76-9C2F94912524}"/>
              </a:ext>
            </a:extLst>
          </p:cNvPr>
          <p:cNvSpPr txBox="1"/>
          <p:nvPr/>
        </p:nvSpPr>
        <p:spPr>
          <a:xfrm>
            <a:off x="1381063" y="6819998"/>
            <a:ext cx="8812553" cy="22739879"/>
          </a:xfrm>
          <a:prstGeom prst="rect">
            <a:avLst/>
          </a:prstGeom>
          <a:noFill/>
        </p:spPr>
        <p:txBody>
          <a:bodyPr wrap="square" rtlCol="0">
            <a:spAutoFit/>
          </a:bodyPr>
          <a:lstStyle/>
          <a:p>
            <a:pPr>
              <a:lnSpc>
                <a:spcPct val="150000"/>
              </a:lnSpc>
            </a:pPr>
            <a:r>
              <a:rPr lang="en-US" sz="2600" b="1" dirty="0">
                <a:latin typeface="Times New Roman" panose="02020603050405020304" pitchFamily="18" charset="0"/>
                <a:cs typeface="Times New Roman" panose="02020603050405020304" pitchFamily="18" charset="0"/>
              </a:rPr>
              <a:t>1.1 Voluntary actions </a:t>
            </a:r>
          </a:p>
          <a:p>
            <a:pPr marL="342900" indent="-3429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Voluntary actions are characterized as an internal, spontaneous, and goal-directed behavior initiated out of an individual’s own will. </a:t>
            </a:r>
          </a:p>
          <a:p>
            <a:pPr marL="342900" indent="-3429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Implication in many ethical and moral debates. </a:t>
            </a:r>
          </a:p>
          <a:p>
            <a:pPr marL="342900" indent="-3429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Readiness Potential (RP) a biomarker describes as ramping up of negativity preceding a voluntary action</a:t>
            </a:r>
            <a:endParaRPr lang="en-US" sz="2600" b="1" dirty="0">
              <a:latin typeface="Times New Roman" panose="02020603050405020304" pitchFamily="18" charset="0"/>
              <a:cs typeface="Times New Roman" panose="02020603050405020304" pitchFamily="18" charset="0"/>
            </a:endParaRPr>
          </a:p>
          <a:p>
            <a:pPr>
              <a:lnSpc>
                <a:spcPct val="150000"/>
              </a:lnSpc>
            </a:pPr>
            <a:endParaRPr lang="en-US" sz="2600" b="1" dirty="0">
              <a:latin typeface="Times New Roman" panose="02020603050405020304" pitchFamily="18" charset="0"/>
              <a:cs typeface="Times New Roman" panose="02020603050405020304" pitchFamily="18" charset="0"/>
            </a:endParaRPr>
          </a:p>
          <a:p>
            <a:pPr>
              <a:lnSpc>
                <a:spcPct val="150000"/>
              </a:lnSpc>
            </a:pPr>
            <a:r>
              <a:rPr lang="en-US" sz="2600" b="1" dirty="0">
                <a:latin typeface="Times New Roman" panose="02020603050405020304" pitchFamily="18" charset="0"/>
                <a:cs typeface="Times New Roman" panose="02020603050405020304" pitchFamily="18" charset="0"/>
              </a:rPr>
              <a:t>1.2 Goal directed feature in Voluntary actions </a:t>
            </a:r>
          </a:p>
          <a:p>
            <a:pPr>
              <a:lnSpc>
                <a:spcPct val="150000"/>
              </a:lnSpc>
            </a:pPr>
            <a:r>
              <a:rPr lang="en-GB" sz="2600" dirty="0">
                <a:latin typeface="Times New Roman" panose="02020603050405020304" pitchFamily="18" charset="0"/>
                <a:cs typeface="Times New Roman" panose="02020603050405020304" pitchFamily="18" charset="0"/>
              </a:rPr>
              <a:t>One idea of volition is a typical scenario in which a person is presented with many ways to do a thing, the participant should have no preference to pick one alternative over the other, but the person still breaks the symmetry by committing to one of the options. We expect this action taken to be a prototype for an internal generated movement. This is also called </a:t>
            </a:r>
            <a:r>
              <a:rPr lang="en-GB" sz="2600" b="1" u="sng" dirty="0" err="1">
                <a:latin typeface="Times New Roman" panose="02020603050405020304" pitchFamily="18" charset="0"/>
                <a:cs typeface="Times New Roman" panose="02020603050405020304" pitchFamily="18" charset="0"/>
              </a:rPr>
              <a:t>Buridan’s</a:t>
            </a:r>
            <a:r>
              <a:rPr lang="en-GB" sz="2600" b="1" u="sng" dirty="0">
                <a:latin typeface="Times New Roman" panose="02020603050405020304" pitchFamily="18" charset="0"/>
                <a:cs typeface="Times New Roman" panose="02020603050405020304" pitchFamily="18" charset="0"/>
              </a:rPr>
              <a:t> choice. </a:t>
            </a:r>
            <a:endParaRPr lang="en-US" sz="2600" b="1" u="sng" dirty="0">
              <a:latin typeface="Times New Roman" panose="02020603050405020304" pitchFamily="18" charset="0"/>
              <a:cs typeface="Times New Roman" panose="02020603050405020304" pitchFamily="18" charset="0"/>
            </a:endParaRPr>
          </a:p>
          <a:p>
            <a:pPr>
              <a:lnSpc>
                <a:spcPct val="150000"/>
              </a:lnSpc>
            </a:pPr>
            <a:endParaRPr lang="en-US" sz="3200" dirty="0"/>
          </a:p>
          <a:p>
            <a:pPr>
              <a:lnSpc>
                <a:spcPct val="150000"/>
              </a:lnSpc>
            </a:pPr>
            <a:r>
              <a:rPr lang="en-US" sz="2600" b="1" dirty="0">
                <a:latin typeface="Times New Roman" panose="02020603050405020304" pitchFamily="18" charset="0"/>
                <a:cs typeface="Times New Roman" panose="02020603050405020304" pitchFamily="18" charset="0"/>
              </a:rPr>
              <a:t>1.3 Problem Solving Tasks for studying voluntary actions </a:t>
            </a:r>
          </a:p>
          <a:p>
            <a:pPr indent="-3429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Existing experimental paradigms are confined to studying voluntary actions in “meaningless” actions. </a:t>
            </a:r>
          </a:p>
          <a:p>
            <a:pPr indent="-3429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 this experiment, a problem-solving activity called </a:t>
            </a:r>
            <a:r>
              <a:rPr lang="en-US" sz="2600" b="1" u="sng" dirty="0">
                <a:latin typeface="Times New Roman" panose="02020603050405020304" pitchFamily="18" charset="0"/>
                <a:cs typeface="Times New Roman" panose="02020603050405020304" pitchFamily="18" charset="0"/>
              </a:rPr>
              <a:t>Tower of London (</a:t>
            </a:r>
            <a:r>
              <a:rPr lang="en-US" sz="2600" b="1" u="sng" dirty="0" err="1">
                <a:latin typeface="Times New Roman" panose="02020603050405020304" pitchFamily="18" charset="0"/>
                <a:cs typeface="Times New Roman" panose="02020603050405020304" pitchFamily="18" charset="0"/>
              </a:rPr>
              <a:t>ToL</a:t>
            </a:r>
            <a:r>
              <a:rPr lang="en-US" sz="2600" b="1" u="sng"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was implemented. (Shallice, 1982). </a:t>
            </a:r>
          </a:p>
          <a:p>
            <a:pPr indent="-342900">
              <a:lnSpc>
                <a:spcPct val="150000"/>
              </a:lnSpc>
              <a:buFont typeface="Arial" panose="020B0604020202020204" pitchFamily="34" charset="0"/>
              <a:buChar char="•"/>
            </a:pPr>
            <a:r>
              <a:rPr lang="en-US" sz="2600" dirty="0" err="1">
                <a:latin typeface="Times New Roman" panose="02020603050405020304" pitchFamily="18" charset="0"/>
                <a:cs typeface="Times New Roman" panose="02020603050405020304" pitchFamily="18" charset="0"/>
              </a:rPr>
              <a:t>ToL</a:t>
            </a:r>
            <a:r>
              <a:rPr lang="en-US" sz="2600" dirty="0">
                <a:latin typeface="Times New Roman" panose="02020603050405020304" pitchFamily="18" charset="0"/>
                <a:cs typeface="Times New Roman" panose="02020603050405020304" pitchFamily="18" charset="0"/>
              </a:rPr>
              <a:t> tasks </a:t>
            </a:r>
            <a:r>
              <a:rPr lang="en-GB" sz="2600" dirty="0">
                <a:latin typeface="Times New Roman" panose="02020603050405020304" pitchFamily="18" charset="0"/>
                <a:cs typeface="Times New Roman" panose="02020603050405020304" pitchFamily="18" charset="0"/>
              </a:rPr>
              <a:t>offers a  novel and rich way to study voluntary actions, linking </a:t>
            </a:r>
            <a:r>
              <a:rPr lang="en-GB" sz="2600" dirty="0" err="1">
                <a:latin typeface="Times New Roman" panose="02020603050405020304" pitchFamily="18" charset="0"/>
                <a:cs typeface="Times New Roman" panose="02020603050405020304" pitchFamily="18" charset="0"/>
              </a:rPr>
              <a:t>ToL</a:t>
            </a:r>
            <a:r>
              <a:rPr lang="en-GB" sz="2600" dirty="0">
                <a:latin typeface="Times New Roman" panose="02020603050405020304" pitchFamily="18" charset="0"/>
                <a:cs typeface="Times New Roman" panose="02020603050405020304" pitchFamily="18" charset="0"/>
              </a:rPr>
              <a:t> to problem solving (which generates internally generated actions)</a:t>
            </a:r>
          </a:p>
          <a:p>
            <a:pPr indent="-3429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 The moment when participants commit to one of the choices is called the </a:t>
            </a:r>
            <a:r>
              <a:rPr lang="en-US" sz="2600" b="1" u="sng" dirty="0">
                <a:latin typeface="Times New Roman" panose="02020603050405020304" pitchFamily="18" charset="0"/>
                <a:cs typeface="Times New Roman" panose="02020603050405020304" pitchFamily="18" charset="0"/>
              </a:rPr>
              <a:t>Turning Point (TP). </a:t>
            </a:r>
          </a:p>
          <a:p>
            <a:pPr indent="-342900">
              <a:lnSpc>
                <a:spcPct val="150000"/>
              </a:lnSpc>
              <a:buFont typeface="Arial" panose="020B0604020202020204" pitchFamily="34" charset="0"/>
              <a:buChar char="•"/>
            </a:pPr>
            <a:endParaRPr lang="en-US" sz="2600" b="1" u="sng" dirty="0">
              <a:latin typeface="Times New Roman" panose="02020603050405020304" pitchFamily="18" charset="0"/>
              <a:cs typeface="Times New Roman" panose="02020603050405020304" pitchFamily="18" charset="0"/>
            </a:endParaRPr>
          </a:p>
          <a:p>
            <a:pPr indent="-342900">
              <a:lnSpc>
                <a:spcPct val="150000"/>
              </a:lnSpc>
              <a:buFont typeface="Arial" panose="020B0604020202020204" pitchFamily="34" charset="0"/>
              <a:buChar char="•"/>
            </a:pPr>
            <a:endParaRPr lang="en-US" sz="2600" b="1" u="sng" dirty="0">
              <a:latin typeface="Times New Roman" panose="02020603050405020304" pitchFamily="18" charset="0"/>
              <a:cs typeface="Times New Roman" panose="02020603050405020304" pitchFamily="18" charset="0"/>
            </a:endParaRPr>
          </a:p>
          <a:p>
            <a:pPr indent="-342900">
              <a:lnSpc>
                <a:spcPct val="150000"/>
              </a:lnSpc>
              <a:buFont typeface="Arial" panose="020B0604020202020204" pitchFamily="34" charset="0"/>
              <a:buChar char="•"/>
            </a:pPr>
            <a:endParaRPr lang="en-US" sz="2600" b="1" u="sng" dirty="0">
              <a:latin typeface="Times New Roman" panose="02020603050405020304" pitchFamily="18" charset="0"/>
              <a:cs typeface="Times New Roman" panose="02020603050405020304" pitchFamily="18" charset="0"/>
            </a:endParaRPr>
          </a:p>
          <a:p>
            <a:pPr indent="-342900">
              <a:lnSpc>
                <a:spcPct val="150000"/>
              </a:lnSpc>
              <a:buFont typeface="Arial" panose="020B0604020202020204" pitchFamily="34" charset="0"/>
              <a:buChar char="•"/>
            </a:pPr>
            <a:endParaRPr lang="en-US" sz="2600" b="1" u="sng" dirty="0">
              <a:latin typeface="Times New Roman" panose="02020603050405020304" pitchFamily="18" charset="0"/>
              <a:cs typeface="Times New Roman" panose="02020603050405020304" pitchFamily="18" charset="0"/>
            </a:endParaRPr>
          </a:p>
          <a:p>
            <a:pPr indent="-342900">
              <a:lnSpc>
                <a:spcPct val="150000"/>
              </a:lnSpc>
              <a:buFont typeface="Arial" panose="020B0604020202020204" pitchFamily="34" charset="0"/>
              <a:buChar char="•"/>
            </a:pPr>
            <a:endParaRPr lang="en-US" sz="2600" b="1" u="sng" dirty="0">
              <a:latin typeface="Times New Roman" panose="02020603050405020304" pitchFamily="18" charset="0"/>
              <a:cs typeface="Times New Roman" panose="02020603050405020304" pitchFamily="18" charset="0"/>
            </a:endParaRPr>
          </a:p>
          <a:p>
            <a:endParaRPr lang="en-US" sz="2400" b="1" dirty="0">
              <a:cs typeface="Times New Roman" panose="02020603050405020304" pitchFamily="18" charset="0"/>
            </a:endParaRPr>
          </a:p>
          <a:p>
            <a:pPr algn="ctr"/>
            <a:endParaRPr lang="en-US" sz="2400" b="1" dirty="0">
              <a:cs typeface="Times New Roman" panose="02020603050405020304" pitchFamily="18" charset="0"/>
            </a:endParaRPr>
          </a:p>
          <a:p>
            <a:pPr algn="ctr"/>
            <a:r>
              <a:rPr lang="en-US" sz="2400" b="1" dirty="0">
                <a:cs typeface="Times New Roman" panose="02020603050405020304" pitchFamily="18" charset="0"/>
              </a:rPr>
              <a:t>1.1 </a:t>
            </a:r>
            <a:r>
              <a:rPr lang="en-US" sz="2400" b="1" dirty="0" err="1">
                <a:cs typeface="Times New Roman" panose="02020603050405020304" pitchFamily="18" charset="0"/>
              </a:rPr>
              <a:t>ToL</a:t>
            </a:r>
            <a:r>
              <a:rPr lang="en-US" sz="2400" b="1" dirty="0">
                <a:cs typeface="Times New Roman" panose="02020603050405020304" pitchFamily="18" charset="0"/>
              </a:rPr>
              <a:t> problem with TP: </a:t>
            </a:r>
            <a:r>
              <a:rPr lang="en-US" sz="2400" dirty="0">
                <a:cs typeface="Times New Roman" panose="02020603050405020304" pitchFamily="18" charset="0"/>
              </a:rPr>
              <a:t>Bifurcation point where either of the 2 alternatives can be taken to solve the problem</a:t>
            </a:r>
          </a:p>
          <a:p>
            <a:pPr>
              <a:lnSpc>
                <a:spcPct val="150000"/>
              </a:lnSpc>
            </a:pPr>
            <a:endParaRPr lang="en-US" sz="24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 </a:t>
            </a:r>
          </a:p>
        </p:txBody>
      </p:sp>
      <p:pic>
        <p:nvPicPr>
          <p:cNvPr id="54" name="Picture 53" descr="Diagram&#10;&#10;Description automatically generated">
            <a:extLst>
              <a:ext uri="{FF2B5EF4-FFF2-40B4-BE49-F238E27FC236}">
                <a16:creationId xmlns:a16="http://schemas.microsoft.com/office/drawing/2014/main" id="{72215DD1-4A3A-3511-108D-44A91F1664C7}"/>
              </a:ext>
            </a:extLst>
          </p:cNvPr>
          <p:cNvPicPr>
            <a:picLocks noChangeAspect="1"/>
          </p:cNvPicPr>
          <p:nvPr/>
        </p:nvPicPr>
        <p:blipFill>
          <a:blip r:embed="rId10"/>
          <a:stretch>
            <a:fillRect/>
          </a:stretch>
        </p:blipFill>
        <p:spPr>
          <a:xfrm>
            <a:off x="1155019" y="23161077"/>
            <a:ext cx="9440316" cy="3504341"/>
          </a:xfrm>
          <a:prstGeom prst="rect">
            <a:avLst/>
          </a:prstGeom>
          <a:ln>
            <a:solidFill>
              <a:schemeClr val="accent4"/>
            </a:solidFill>
          </a:ln>
        </p:spPr>
      </p:pic>
      <p:pic>
        <p:nvPicPr>
          <p:cNvPr id="55" name="Graphic 1">
            <a:extLst>
              <a:ext uri="{FF2B5EF4-FFF2-40B4-BE49-F238E27FC236}">
                <a16:creationId xmlns:a16="http://schemas.microsoft.com/office/drawing/2014/main" id="{A23E913B-71E9-2BC4-FA32-D51210828622}"/>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l="44999" t="42012" r="5167" b="22485"/>
          <a:stretch/>
        </p:blipFill>
        <p:spPr bwMode="auto">
          <a:xfrm>
            <a:off x="11187984" y="18331048"/>
            <a:ext cx="9631565" cy="3865849"/>
          </a:xfrm>
          <a:prstGeom prst="rect">
            <a:avLst/>
          </a:prstGeom>
          <a:ln>
            <a:noFill/>
          </a:ln>
          <a:extLst>
            <a:ext uri="{53640926-AAD7-44D8-BBD7-CCE9431645EC}">
              <a14:shadowObscured xmlns:a14="http://schemas.microsoft.com/office/drawing/2010/main"/>
            </a:ext>
          </a:extLst>
        </p:spPr>
      </p:pic>
      <p:pic>
        <p:nvPicPr>
          <p:cNvPr id="58" name="Graphic 6">
            <a:extLst>
              <a:ext uri="{FF2B5EF4-FFF2-40B4-BE49-F238E27FC236}">
                <a16:creationId xmlns:a16="http://schemas.microsoft.com/office/drawing/2014/main" id="{F13AFF9F-2D36-4AA8-601D-2A8A35A13BE5}"/>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21955" t="17949" r="20833" b="21937"/>
          <a:stretch/>
        </p:blipFill>
        <p:spPr bwMode="auto">
          <a:xfrm>
            <a:off x="21623841" y="7946400"/>
            <a:ext cx="9518475" cy="6485836"/>
          </a:xfrm>
          <a:prstGeom prst="rect">
            <a:avLst/>
          </a:prstGeom>
          <a:ln>
            <a:noFill/>
          </a:ln>
          <a:extLst>
            <a:ext uri="{53640926-AAD7-44D8-BBD7-CCE9431645EC}">
              <a14:shadowObscured xmlns:a14="http://schemas.microsoft.com/office/drawing/2010/main"/>
            </a:ext>
          </a:extLst>
        </p:spPr>
      </p:pic>
      <p:sp>
        <p:nvSpPr>
          <p:cNvPr id="59" name="Rectangle 12">
            <a:extLst>
              <a:ext uri="{FF2B5EF4-FFF2-40B4-BE49-F238E27FC236}">
                <a16:creationId xmlns:a16="http://schemas.microsoft.com/office/drawing/2014/main" id="{69FA46B0-49DF-1C6D-8E32-A47FC20EA8D1}"/>
              </a:ext>
            </a:extLst>
          </p:cNvPr>
          <p:cNvSpPr>
            <a:spLocks noChangeArrowheads="1"/>
          </p:cNvSpPr>
          <p:nvPr/>
        </p:nvSpPr>
        <p:spPr bwMode="auto">
          <a:xfrm>
            <a:off x="21412200" y="16940957"/>
            <a:ext cx="9891861" cy="10630918"/>
          </a:xfrm>
          <a:prstGeom prst="rect">
            <a:avLst/>
          </a:prstGeom>
          <a:solidFill>
            <a:schemeClr val="accent4">
              <a:lumMod val="40000"/>
              <a:lumOff val="60000"/>
              <a:alpha val="75299"/>
            </a:schemeClr>
          </a:solidFill>
          <a:ln w="9525">
            <a:solidFill>
              <a:schemeClr val="tx1"/>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58" tIns="45681" rIns="91358" bIns="45681" numCol="1" spcCol="7200000">
            <a:normAutofit/>
          </a:bodyPr>
          <a:lstStyle/>
          <a:p>
            <a:pPr defTabSz="914400" eaLnBrk="0" fontAlgn="base" hangingPunct="0">
              <a:spcBef>
                <a:spcPct val="0"/>
              </a:spcBef>
              <a:spcAft>
                <a:spcPct val="0"/>
              </a:spcAft>
              <a:defRPr/>
            </a:pPr>
            <a:r>
              <a:rPr lang="en-US" sz="3200" b="1" u="sng" dirty="0">
                <a:latin typeface="Times New Roman" panose="02020603050405020304" pitchFamily="18" charset="0"/>
                <a:cs typeface="Times New Roman" panose="02020603050405020304" pitchFamily="18" charset="0"/>
              </a:rPr>
              <a:t>Experiment 2 </a:t>
            </a: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r>
              <a:rPr lang="en-US" sz="2400" i="1" dirty="0">
                <a:latin typeface="Times New Roman" panose="02020603050405020304" pitchFamily="18" charset="0"/>
                <a:cs typeface="Times New Roman" panose="02020603050405020304" pitchFamily="18" charset="0"/>
              </a:rPr>
              <a:t>Turning Point vs no Turning Point problems</a:t>
            </a: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800" b="1" dirty="0">
              <a:cs typeface="Times New Roman" panose="02020603050405020304" pitchFamily="18" charset="0"/>
            </a:endParaRPr>
          </a:p>
          <a:p>
            <a:pPr fontAlgn="base">
              <a:spcBef>
                <a:spcPct val="0"/>
              </a:spcBef>
              <a:spcAft>
                <a:spcPct val="0"/>
              </a:spcAft>
              <a:defRPr/>
            </a:pPr>
            <a:endParaRPr lang="en-US" sz="2800" b="1" dirty="0">
              <a:cs typeface="Times New Roman" panose="02020603050405020304" pitchFamily="18" charset="0"/>
            </a:endParaRPr>
          </a:p>
          <a:p>
            <a:pPr algn="ctr" fontAlgn="base">
              <a:spcBef>
                <a:spcPct val="0"/>
              </a:spcBef>
              <a:spcAft>
                <a:spcPct val="0"/>
              </a:spcAft>
              <a:defRPr/>
            </a:pPr>
            <a:r>
              <a:rPr lang="en-US" sz="2800" b="1" dirty="0">
                <a:cs typeface="Times New Roman" panose="02020603050405020304" pitchFamily="18" charset="0"/>
              </a:rPr>
              <a:t>3.2.1 RP amplitude between TP problems and no TP problems </a:t>
            </a:r>
            <a:r>
              <a:rPr lang="en-US" sz="2800" dirty="0">
                <a:cs typeface="Times New Roman" panose="02020603050405020304" pitchFamily="18" charset="0"/>
              </a:rPr>
              <a:t>No significant difference (p-value=0.105) </a:t>
            </a:r>
          </a:p>
          <a:p>
            <a:pPr>
              <a:defRPr/>
            </a:pPr>
            <a:endParaRPr lang="en-US" sz="1800" dirty="0">
              <a:solidFill>
                <a:srgbClr val="000000"/>
              </a:solidFill>
              <a:latin typeface="Times New Roman" panose="02020603050405020304" pitchFamily="18" charset="0"/>
            </a:endParaRPr>
          </a:p>
        </p:txBody>
      </p:sp>
      <p:sp>
        <p:nvSpPr>
          <p:cNvPr id="13" name="Rectangle 12">
            <a:extLst>
              <a:ext uri="{FF2B5EF4-FFF2-40B4-BE49-F238E27FC236}">
                <a16:creationId xmlns:a16="http://schemas.microsoft.com/office/drawing/2014/main" id="{B009D8B7-38EC-0A38-2C80-6C1900C4898A}"/>
              </a:ext>
            </a:extLst>
          </p:cNvPr>
          <p:cNvSpPr>
            <a:spLocks noChangeArrowheads="1"/>
          </p:cNvSpPr>
          <p:nvPr/>
        </p:nvSpPr>
        <p:spPr bwMode="auto">
          <a:xfrm>
            <a:off x="31876729" y="5512035"/>
            <a:ext cx="10250870" cy="9975616"/>
          </a:xfrm>
          <a:prstGeom prst="rect">
            <a:avLst/>
          </a:prstGeom>
          <a:solidFill>
            <a:schemeClr val="accent4">
              <a:lumMod val="40000"/>
              <a:lumOff val="60000"/>
              <a:alpha val="65143"/>
            </a:schemeClr>
          </a:solidFill>
          <a:ln w="9525">
            <a:solidFill>
              <a:schemeClr val="tx1"/>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1358" tIns="45681" rIns="91358" bIns="45681" numCol="1" spcCol="7200000">
            <a:normAutofit/>
          </a:bodyPr>
          <a:lstStyle/>
          <a:p>
            <a:pPr defTabSz="914400" eaLnBrk="0" fontAlgn="base" hangingPunct="0">
              <a:spcBef>
                <a:spcPct val="0"/>
              </a:spcBef>
              <a:spcAft>
                <a:spcPct val="0"/>
              </a:spcAft>
              <a:defRPr/>
            </a:pPr>
            <a:r>
              <a:rPr lang="en-US" sz="3200" b="1" u="sng" dirty="0">
                <a:latin typeface="Times New Roman" panose="02020603050405020304" pitchFamily="18" charset="0"/>
                <a:cs typeface="Times New Roman" panose="02020603050405020304" pitchFamily="18" charset="0"/>
              </a:rPr>
              <a:t>Experiment 2 </a:t>
            </a: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r>
              <a:rPr lang="en-US" sz="2400" dirty="0">
                <a:latin typeface="Times New Roman" panose="02020603050405020304" pitchFamily="18" charset="0"/>
                <a:cs typeface="Times New Roman" panose="02020603050405020304" pitchFamily="18" charset="0"/>
              </a:rPr>
              <a:t>First Turning Point move vs Other moves</a:t>
            </a: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400" dirty="0">
              <a:latin typeface="Times New Roman" panose="02020603050405020304" pitchFamily="18" charset="0"/>
              <a:cs typeface="Times New Roman" panose="02020603050405020304" pitchFamily="18" charset="0"/>
            </a:endParaRPr>
          </a:p>
          <a:p>
            <a:pPr fontAlgn="base">
              <a:lnSpc>
                <a:spcPct val="140000"/>
              </a:lnSpc>
              <a:spcBef>
                <a:spcPct val="0"/>
              </a:spcBef>
              <a:spcAft>
                <a:spcPct val="0"/>
              </a:spcAft>
              <a:defRPr/>
            </a:pPr>
            <a:endParaRPr lang="en-US" sz="2800" b="1" dirty="0">
              <a:cs typeface="Times New Roman" panose="02020603050405020304" pitchFamily="18" charset="0"/>
            </a:endParaRPr>
          </a:p>
          <a:p>
            <a:pPr fontAlgn="base">
              <a:lnSpc>
                <a:spcPct val="140000"/>
              </a:lnSpc>
              <a:spcBef>
                <a:spcPct val="0"/>
              </a:spcBef>
              <a:spcAft>
                <a:spcPct val="0"/>
              </a:spcAft>
              <a:defRPr/>
            </a:pPr>
            <a:endParaRPr lang="en-US" sz="2800" b="1" dirty="0">
              <a:cs typeface="Times New Roman" panose="02020603050405020304" pitchFamily="18" charset="0"/>
            </a:endParaRPr>
          </a:p>
          <a:p>
            <a:pPr algn="ctr" fontAlgn="base">
              <a:spcBef>
                <a:spcPct val="0"/>
              </a:spcBef>
              <a:spcAft>
                <a:spcPct val="0"/>
              </a:spcAft>
              <a:defRPr/>
            </a:pPr>
            <a:r>
              <a:rPr lang="en-US" sz="2800" b="1" dirty="0">
                <a:cs typeface="Times New Roman" panose="02020603050405020304" pitchFamily="18" charset="0"/>
              </a:rPr>
              <a:t>3.2.2 RP amplitude between first move and other moves within Turning Point problems </a:t>
            </a:r>
            <a:r>
              <a:rPr lang="en-US" sz="2800" dirty="0">
                <a:cs typeface="Times New Roman" panose="02020603050405020304" pitchFamily="18" charset="0"/>
              </a:rPr>
              <a:t>No significant difference (p-value=0.2626) </a:t>
            </a:r>
          </a:p>
          <a:p>
            <a:pPr>
              <a:defRPr/>
            </a:pPr>
            <a:endParaRPr lang="en-US" sz="1800" dirty="0">
              <a:solidFill>
                <a:srgbClr val="000000"/>
              </a:solidFill>
              <a:latin typeface="Times New Roman" panose="02020603050405020304" pitchFamily="18" charset="0"/>
            </a:endParaRPr>
          </a:p>
        </p:txBody>
      </p:sp>
      <p:pic>
        <p:nvPicPr>
          <p:cNvPr id="17" name="Picture 16" descr="Chart, line chart&#10;&#10;Description automatically generated">
            <a:extLst>
              <a:ext uri="{FF2B5EF4-FFF2-40B4-BE49-F238E27FC236}">
                <a16:creationId xmlns:a16="http://schemas.microsoft.com/office/drawing/2014/main" id="{B6964958-425E-30ED-6B01-7B05E7A797B2}"/>
              </a:ext>
            </a:extLst>
          </p:cNvPr>
          <p:cNvPicPr>
            <a:picLocks noChangeAspect="1"/>
          </p:cNvPicPr>
          <p:nvPr/>
        </p:nvPicPr>
        <p:blipFill>
          <a:blip r:embed="rId15"/>
          <a:stretch>
            <a:fillRect/>
          </a:stretch>
        </p:blipFill>
        <p:spPr>
          <a:xfrm>
            <a:off x="21432883" y="19086350"/>
            <a:ext cx="9850494" cy="5826898"/>
          </a:xfrm>
          <a:prstGeom prst="rect">
            <a:avLst/>
          </a:prstGeom>
          <a:ln>
            <a:solidFill>
              <a:schemeClr val="accent4"/>
            </a:solidFill>
          </a:ln>
        </p:spPr>
      </p:pic>
      <p:pic>
        <p:nvPicPr>
          <p:cNvPr id="10" name="Picture 9" descr="Chart, line chart&#10;&#10;Description automatically generated">
            <a:extLst>
              <a:ext uri="{FF2B5EF4-FFF2-40B4-BE49-F238E27FC236}">
                <a16:creationId xmlns:a16="http://schemas.microsoft.com/office/drawing/2014/main" id="{087278A4-49FD-790F-F178-003B74A99F89}"/>
              </a:ext>
            </a:extLst>
          </p:cNvPr>
          <p:cNvPicPr>
            <a:picLocks noChangeAspect="1"/>
          </p:cNvPicPr>
          <p:nvPr/>
        </p:nvPicPr>
        <p:blipFill>
          <a:blip r:embed="rId16"/>
          <a:stretch>
            <a:fillRect/>
          </a:stretch>
        </p:blipFill>
        <p:spPr>
          <a:xfrm>
            <a:off x="32132588" y="7648066"/>
            <a:ext cx="9739151" cy="5854598"/>
          </a:xfrm>
          <a:prstGeom prst="rect">
            <a:avLst/>
          </a:prstGeom>
          <a:solidFill>
            <a:schemeClr val="accent4">
              <a:lumMod val="40000"/>
              <a:lumOff val="60000"/>
              <a:alpha val="54404"/>
            </a:schemeClr>
          </a:solidFill>
          <a:ln>
            <a:solidFill>
              <a:schemeClr val="accent4"/>
            </a:solidFill>
          </a:ln>
        </p:spPr>
      </p:pic>
      <p:sp>
        <p:nvSpPr>
          <p:cNvPr id="2" name="TextBox 1">
            <a:extLst>
              <a:ext uri="{FF2B5EF4-FFF2-40B4-BE49-F238E27FC236}">
                <a16:creationId xmlns:a16="http://schemas.microsoft.com/office/drawing/2014/main" id="{FE0704C7-F1DB-A68D-491C-19100FD1E532}"/>
              </a:ext>
            </a:extLst>
          </p:cNvPr>
          <p:cNvSpPr txBox="1"/>
          <p:nvPr/>
        </p:nvSpPr>
        <p:spPr>
          <a:xfrm>
            <a:off x="31876729" y="15983574"/>
            <a:ext cx="10250870" cy="6063198"/>
          </a:xfrm>
          <a:prstGeom prst="rect">
            <a:avLst/>
          </a:prstGeom>
          <a:solidFill>
            <a:schemeClr val="accent4">
              <a:lumMod val="40000"/>
              <a:lumOff val="60000"/>
              <a:alpha val="70065"/>
            </a:schemeClr>
          </a:solidFill>
          <a:ln>
            <a:solidFill>
              <a:schemeClr val="accent4"/>
            </a:solidFill>
          </a:ln>
        </p:spPr>
        <p:txBody>
          <a:bodyPr wrap="square" rtlCol="0">
            <a:spAutoFit/>
          </a:bodyPr>
          <a:lstStyle/>
          <a:p>
            <a:r>
              <a:rPr lang="en-US" sz="5000" b="1" dirty="0">
                <a:latin typeface="Times New Roman" panose="02020603050405020304" pitchFamily="18" charset="0"/>
                <a:cs typeface="Times New Roman" panose="02020603050405020304" pitchFamily="18" charset="0"/>
              </a:rPr>
              <a:t>4. Discussion</a:t>
            </a:r>
          </a:p>
          <a:p>
            <a:endParaRPr lang="en-US" sz="2600" dirty="0">
              <a:latin typeface="Times New Roman" panose="02020603050405020304" pitchFamily="18" charset="0"/>
              <a:cs typeface="Times New Roman" panose="02020603050405020304" pitchFamily="18" charset="0"/>
            </a:endParaRPr>
          </a:p>
          <a:p>
            <a:r>
              <a:rPr lang="en-US" sz="2600" i="1" dirty="0">
                <a:latin typeface="Times New Roman" panose="02020603050405020304" pitchFamily="18" charset="0"/>
                <a:cs typeface="Times New Roman" panose="02020603050405020304" pitchFamily="18" charset="0"/>
              </a:rPr>
              <a:t>Experiment 1 </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results of the memory test show that subjects represent the alternative unchosen option</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This means that during problem-solving people represent the ‘means to solve the problem by representing both alternatives that they could had chosen. </a:t>
            </a:r>
          </a:p>
          <a:p>
            <a:r>
              <a:rPr lang="en-US" sz="2600" i="1" dirty="0">
                <a:latin typeface="Times New Roman" panose="02020603050405020304" pitchFamily="18" charset="0"/>
                <a:cs typeface="Times New Roman" panose="02020603050405020304" pitchFamily="18" charset="0"/>
              </a:rPr>
              <a:t>Experiment 2 </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RP amplitude is not sensitive to the presence of Turning Point. </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We can interpret this results as:</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 RP not the correct neural marker to measure representation of choices</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Process of committing to one choice occurs earlier than the onset of RP</a:t>
            </a:r>
          </a:p>
          <a:p>
            <a:pPr marL="514350" indent="-514350">
              <a:buFont typeface="+mj-lt"/>
              <a:buAutoNum type="arabicPeriod"/>
            </a:pPr>
            <a:r>
              <a:rPr lang="en-US" sz="2600" dirty="0">
                <a:latin typeface="Times New Roman" panose="02020603050405020304" pitchFamily="18" charset="0"/>
                <a:cs typeface="Times New Roman" panose="02020603050405020304" pitchFamily="18" charset="0"/>
              </a:rPr>
              <a:t>Sample size not large enough to produce significant results.</a:t>
            </a:r>
          </a:p>
        </p:txBody>
      </p:sp>
      <p:pic>
        <p:nvPicPr>
          <p:cNvPr id="15" name="Picture 14">
            <a:extLst>
              <a:ext uri="{FF2B5EF4-FFF2-40B4-BE49-F238E27FC236}">
                <a16:creationId xmlns:a16="http://schemas.microsoft.com/office/drawing/2014/main" id="{54E76E97-77F5-F49D-25A7-2E6434F6FB3E}"/>
              </a:ext>
            </a:extLst>
          </p:cNvPr>
          <p:cNvPicPr>
            <a:picLocks noChangeAspect="1"/>
          </p:cNvPicPr>
          <p:nvPr/>
        </p:nvPicPr>
        <p:blipFill rotWithShape="1">
          <a:blip r:embed="rId17"/>
          <a:srcRect l="-543" t="13580"/>
          <a:stretch/>
        </p:blipFill>
        <p:spPr>
          <a:xfrm>
            <a:off x="11118962" y="11523054"/>
            <a:ext cx="9770467" cy="5559969"/>
          </a:xfrm>
          <a:prstGeom prst="rect">
            <a:avLst/>
          </a:prstGeom>
          <a:ln>
            <a:solidFill>
              <a:schemeClr val="accent4"/>
            </a:solidFill>
          </a:ln>
        </p:spPr>
      </p:pic>
    </p:spTree>
    <p:extLst>
      <p:ext uri="{BB962C8B-B14F-4D97-AF65-F5344CB8AC3E}">
        <p14:creationId xmlns:p14="http://schemas.microsoft.com/office/powerpoint/2010/main" val="2441031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solidFill>
            <a:schemeClr val="tx1"/>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lIns="91358" tIns="45681" rIns="91358" bIns="45681" numCol="1" spcCol="7200000">
        <a:normAutofit/>
      </a:bodyPr>
      <a:lstStyle>
        <a:defPPr>
          <a:defRPr sz="6000" dirty="0">
            <a:latin typeface="Arial Bold"/>
            <a:cs typeface="Arial Bold"/>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1777</Words>
  <Application>Microsoft Macintosh PowerPoint</Application>
  <PresentationFormat>Custom</PresentationFormat>
  <Paragraphs>147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 Bold</vt:lpstr>
      <vt:lpstr>Arial</vt:lpstr>
      <vt:lpstr>Calibri</vt:lpstr>
      <vt:lpstr>Times</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Liu, Yangyang</cp:lastModifiedBy>
  <cp:revision>34</cp:revision>
  <dcterms:created xsi:type="dcterms:W3CDTF">2014-07-30T12:30:03Z</dcterms:created>
  <dcterms:modified xsi:type="dcterms:W3CDTF">2023-03-21T10:36:09Z</dcterms:modified>
</cp:coreProperties>
</file>